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tags/tag10.xml" ContentType="application/vnd.openxmlformats-officedocument.presentationml.tags+xml"/>
  <Override PartName="/ppt/notesSlides/notesSlide10.xml" ContentType="application/vnd.openxmlformats-officedocument.presentationml.notesSlide+xml"/>
  <Override PartName="/ppt/tags/tag11.xml" ContentType="application/vnd.openxmlformats-officedocument.presentationml.tags+xml"/>
  <Override PartName="/ppt/notesSlides/notesSlide11.xml" ContentType="application/vnd.openxmlformats-officedocument.presentationml.notesSlide+xml"/>
  <Override PartName="/ppt/tags/tag12.xml" ContentType="application/vnd.openxmlformats-officedocument.presentationml.tags+xml"/>
  <Override PartName="/ppt/notesSlides/notesSlide12.xml" ContentType="application/vnd.openxmlformats-officedocument.presentationml.notesSlide+xml"/>
  <Override PartName="/ppt/tags/tag13.xml" ContentType="application/vnd.openxmlformats-officedocument.presentationml.tags+xml"/>
  <Override PartName="/ppt/notesSlides/notesSlide13.xml" ContentType="application/vnd.openxmlformats-officedocument.presentationml.notesSlide+xml"/>
  <Override PartName="/ppt/tags/tag14.xml" ContentType="application/vnd.openxmlformats-officedocument.presentationml.tags+xml"/>
  <Override PartName="/ppt/notesSlides/notesSlide14.xml" ContentType="application/vnd.openxmlformats-officedocument.presentationml.notesSlide+xml"/>
  <Override PartName="/ppt/tags/tag15.xml" ContentType="application/vnd.openxmlformats-officedocument.presentationml.tags+xml"/>
  <Override PartName="/ppt/notesSlides/notesSlide15.xml" ContentType="application/vnd.openxmlformats-officedocument.presentationml.notesSlide+xml"/>
  <Override PartName="/ppt/tags/tag16.xml" ContentType="application/vnd.openxmlformats-officedocument.presentationml.tags+xml"/>
  <Override PartName="/ppt/notesSlides/notesSlide16.xml" ContentType="application/vnd.openxmlformats-officedocument.presentationml.notesSlide+xml"/>
  <Override PartName="/ppt/tags/tag17.xml" ContentType="application/vnd.openxmlformats-officedocument.presentationml.tags+xml"/>
  <Override PartName="/ppt/notesSlides/notesSlide17.xml" ContentType="application/vnd.openxmlformats-officedocument.presentationml.notesSlide+xml"/>
  <Override PartName="/ppt/tags/tag18.xml" ContentType="application/vnd.openxmlformats-officedocument.presentationml.tags+xml"/>
  <Override PartName="/ppt/notesSlides/notesSlide18.xml" ContentType="application/vnd.openxmlformats-officedocument.presentationml.notesSlide+xml"/>
  <Override PartName="/ppt/tags/tag19.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3"/>
  </p:notesMasterIdLst>
  <p:handoutMasterIdLst>
    <p:handoutMasterId r:id="rId24"/>
  </p:handoutMasterIdLst>
  <p:sldIdLst>
    <p:sldId id="280" r:id="rId2"/>
    <p:sldId id="366" r:id="rId3"/>
    <p:sldId id="380" r:id="rId4"/>
    <p:sldId id="383" r:id="rId5"/>
    <p:sldId id="384" r:id="rId6"/>
    <p:sldId id="385" r:id="rId7"/>
    <p:sldId id="386" r:id="rId8"/>
    <p:sldId id="387" r:id="rId9"/>
    <p:sldId id="388" r:id="rId10"/>
    <p:sldId id="400" r:id="rId11"/>
    <p:sldId id="389" r:id="rId12"/>
    <p:sldId id="390" r:id="rId13"/>
    <p:sldId id="401" r:id="rId14"/>
    <p:sldId id="391" r:id="rId15"/>
    <p:sldId id="402" r:id="rId16"/>
    <p:sldId id="392" r:id="rId17"/>
    <p:sldId id="393" r:id="rId18"/>
    <p:sldId id="394" r:id="rId19"/>
    <p:sldId id="398" r:id="rId20"/>
    <p:sldId id="395" r:id="rId21"/>
    <p:sldId id="281"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0524"/>
    <a:srgbClr val="008000"/>
    <a:srgbClr val="385D8A"/>
    <a:srgbClr val="34495E"/>
    <a:srgbClr val="FDFDFD"/>
    <a:srgbClr val="EAEAEA"/>
    <a:srgbClr val="F8F8F8"/>
    <a:srgbClr val="FF6702"/>
    <a:srgbClr val="D6B580"/>
    <a:srgbClr val="F8ED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088" autoAdjust="0"/>
    <p:restoredTop sz="94364" autoAdjust="0"/>
  </p:normalViewPr>
  <p:slideViewPr>
    <p:cSldViewPr>
      <p:cViewPr varScale="1">
        <p:scale>
          <a:sx n="78" d="100"/>
          <a:sy n="78" d="100"/>
        </p:scale>
        <p:origin x="1709"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67" d="100"/>
          <a:sy n="67" d="100"/>
        </p:scale>
        <p:origin x="2748" y="60"/>
      </p:cViewPr>
      <p:guideLst/>
    </p:cSldViewPr>
  </p:notes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10F5FD1-1E71-41C1-A531-EDAAD398F8D7}" type="datetimeFigureOut">
              <a:rPr lang="en-US" smtClean="0"/>
              <a:t>5/11/2025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9418C08-2D65-44A0-8D9B-1CEE7EB87A37}" type="slidenum">
              <a:rPr lang="en-US" smtClean="0"/>
              <a:t>‹#›</a:t>
            </a:fld>
            <a:endParaRPr lang="en-US"/>
          </a:p>
        </p:txBody>
      </p:sp>
    </p:spTree>
    <p:extLst>
      <p:ext uri="{BB962C8B-B14F-4D97-AF65-F5344CB8AC3E}">
        <p14:creationId xmlns:p14="http://schemas.microsoft.com/office/powerpoint/2010/main" val="10136621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DAEC9C6-1CE4-4880-838A-FB85AC35DCB4}" type="datetimeFigureOut">
              <a:rPr lang="en-US" smtClean="0"/>
              <a:pPr/>
              <a:t>5/11/2025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F7A3D7D-4DD0-4519-9573-665089B66871}" type="slidenum">
              <a:rPr lang="en-US" smtClean="0"/>
              <a:pPr/>
              <a:t>‹#›</a:t>
            </a:fld>
            <a:endParaRPr lang="en-US"/>
          </a:p>
        </p:txBody>
      </p:sp>
    </p:spTree>
    <p:extLst>
      <p:ext uri="{BB962C8B-B14F-4D97-AF65-F5344CB8AC3E}">
        <p14:creationId xmlns:p14="http://schemas.microsoft.com/office/powerpoint/2010/main" val="16749366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2</a:t>
            </a:fld>
            <a:endParaRPr lang="en-US"/>
          </a:p>
        </p:txBody>
      </p:sp>
    </p:spTree>
    <p:extLst>
      <p:ext uri="{BB962C8B-B14F-4D97-AF65-F5344CB8AC3E}">
        <p14:creationId xmlns:p14="http://schemas.microsoft.com/office/powerpoint/2010/main" val="5386249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3</a:t>
            </a:fld>
            <a:endParaRPr lang="en-US"/>
          </a:p>
        </p:txBody>
      </p:sp>
    </p:spTree>
    <p:extLst>
      <p:ext uri="{BB962C8B-B14F-4D97-AF65-F5344CB8AC3E}">
        <p14:creationId xmlns:p14="http://schemas.microsoft.com/office/powerpoint/2010/main" val="783653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4</a:t>
            </a:fld>
            <a:endParaRPr lang="en-US"/>
          </a:p>
        </p:txBody>
      </p:sp>
    </p:spTree>
    <p:extLst>
      <p:ext uri="{BB962C8B-B14F-4D97-AF65-F5344CB8AC3E}">
        <p14:creationId xmlns:p14="http://schemas.microsoft.com/office/powerpoint/2010/main" val="35136850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5</a:t>
            </a:fld>
            <a:endParaRPr lang="en-US"/>
          </a:p>
        </p:txBody>
      </p:sp>
    </p:spTree>
    <p:extLst>
      <p:ext uri="{BB962C8B-B14F-4D97-AF65-F5344CB8AC3E}">
        <p14:creationId xmlns:p14="http://schemas.microsoft.com/office/powerpoint/2010/main" val="18451487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6</a:t>
            </a:fld>
            <a:endParaRPr lang="en-US"/>
          </a:p>
        </p:txBody>
      </p:sp>
    </p:spTree>
    <p:extLst>
      <p:ext uri="{BB962C8B-B14F-4D97-AF65-F5344CB8AC3E}">
        <p14:creationId xmlns:p14="http://schemas.microsoft.com/office/powerpoint/2010/main" val="24572639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7</a:t>
            </a:fld>
            <a:endParaRPr lang="en-US"/>
          </a:p>
        </p:txBody>
      </p:sp>
    </p:spTree>
    <p:extLst>
      <p:ext uri="{BB962C8B-B14F-4D97-AF65-F5344CB8AC3E}">
        <p14:creationId xmlns:p14="http://schemas.microsoft.com/office/powerpoint/2010/main" val="15273736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8</a:t>
            </a:fld>
            <a:endParaRPr lang="en-US"/>
          </a:p>
        </p:txBody>
      </p:sp>
    </p:spTree>
    <p:extLst>
      <p:ext uri="{BB962C8B-B14F-4D97-AF65-F5344CB8AC3E}">
        <p14:creationId xmlns:p14="http://schemas.microsoft.com/office/powerpoint/2010/main" val="33176278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9</a:t>
            </a:fld>
            <a:endParaRPr lang="en-US"/>
          </a:p>
        </p:txBody>
      </p:sp>
    </p:spTree>
    <p:extLst>
      <p:ext uri="{BB962C8B-B14F-4D97-AF65-F5344CB8AC3E}">
        <p14:creationId xmlns:p14="http://schemas.microsoft.com/office/powerpoint/2010/main" val="33227195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B663F-4A8F-AD8C-763E-28E7B757B9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6F8A56-651D-2D65-D826-41771A45B8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80CF6A-DD33-3404-93EC-D056B8C17431}"/>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E92ECFF0-7041-F721-3C9F-E5387FC907FE}"/>
              </a:ext>
            </a:extLst>
          </p:cNvPr>
          <p:cNvSpPr>
            <a:spLocks noGrp="1"/>
          </p:cNvSpPr>
          <p:nvPr>
            <p:ph type="sldNum" sz="quarter" idx="10"/>
          </p:nvPr>
        </p:nvSpPr>
        <p:spPr/>
        <p:txBody>
          <a:bodyPr/>
          <a:lstStyle/>
          <a:p>
            <a:fld id="{3F7A3D7D-4DD0-4519-9573-665089B66871}" type="slidenum">
              <a:rPr lang="en-US" smtClean="0"/>
              <a:pPr/>
              <a:t>10</a:t>
            </a:fld>
            <a:endParaRPr lang="en-US"/>
          </a:p>
        </p:txBody>
      </p:sp>
    </p:spTree>
    <p:extLst>
      <p:ext uri="{BB962C8B-B14F-4D97-AF65-F5344CB8AC3E}">
        <p14:creationId xmlns:p14="http://schemas.microsoft.com/office/powerpoint/2010/main" val="10526967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11</a:t>
            </a:fld>
            <a:endParaRPr lang="en-US"/>
          </a:p>
        </p:txBody>
      </p:sp>
    </p:spTree>
    <p:extLst>
      <p:ext uri="{BB962C8B-B14F-4D97-AF65-F5344CB8AC3E}">
        <p14:creationId xmlns:p14="http://schemas.microsoft.com/office/powerpoint/2010/main" val="17894435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12</a:t>
            </a:fld>
            <a:endParaRPr lang="en-US"/>
          </a:p>
        </p:txBody>
      </p:sp>
    </p:spTree>
    <p:extLst>
      <p:ext uri="{BB962C8B-B14F-4D97-AF65-F5344CB8AC3E}">
        <p14:creationId xmlns:p14="http://schemas.microsoft.com/office/powerpoint/2010/main" val="27636418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304B57-CE99-1AFC-9DCC-41645A5D72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46AA30-4401-1C6E-B3C0-59C598E9D4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C9C89F-7B58-B0F2-52FB-D95E934D76A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56DE9A4-C47E-0777-BCEB-6C6A28F7657A}"/>
              </a:ext>
            </a:extLst>
          </p:cNvPr>
          <p:cNvSpPr>
            <a:spLocks noGrp="1"/>
          </p:cNvSpPr>
          <p:nvPr>
            <p:ph type="sldNum" sz="quarter" idx="10"/>
          </p:nvPr>
        </p:nvSpPr>
        <p:spPr/>
        <p:txBody>
          <a:bodyPr/>
          <a:lstStyle/>
          <a:p>
            <a:fld id="{3F7A3D7D-4DD0-4519-9573-665089B66871}" type="slidenum">
              <a:rPr lang="en-US" smtClean="0"/>
              <a:pPr/>
              <a:t>13</a:t>
            </a:fld>
            <a:endParaRPr lang="en-US"/>
          </a:p>
        </p:txBody>
      </p:sp>
    </p:spTree>
    <p:extLst>
      <p:ext uri="{BB962C8B-B14F-4D97-AF65-F5344CB8AC3E}">
        <p14:creationId xmlns:p14="http://schemas.microsoft.com/office/powerpoint/2010/main" val="27587702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14</a:t>
            </a:fld>
            <a:endParaRPr lang="en-US"/>
          </a:p>
        </p:txBody>
      </p:sp>
    </p:spTree>
    <p:extLst>
      <p:ext uri="{BB962C8B-B14F-4D97-AF65-F5344CB8AC3E}">
        <p14:creationId xmlns:p14="http://schemas.microsoft.com/office/powerpoint/2010/main" val="8580241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F8F88-7C9D-B818-A78E-BD5A6AF444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991504-A573-123B-C0B6-6F966CEFA0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338388-471A-4B8D-8308-71EA55B40A9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7088DE18-FBA1-02DF-535E-C304907B7190}"/>
              </a:ext>
            </a:extLst>
          </p:cNvPr>
          <p:cNvSpPr>
            <a:spLocks noGrp="1"/>
          </p:cNvSpPr>
          <p:nvPr>
            <p:ph type="sldNum" sz="quarter" idx="10"/>
          </p:nvPr>
        </p:nvSpPr>
        <p:spPr/>
        <p:txBody>
          <a:bodyPr/>
          <a:lstStyle/>
          <a:p>
            <a:fld id="{3F7A3D7D-4DD0-4519-9573-665089B66871}" type="slidenum">
              <a:rPr lang="en-US" smtClean="0"/>
              <a:pPr/>
              <a:t>15</a:t>
            </a:fld>
            <a:endParaRPr lang="en-US"/>
          </a:p>
        </p:txBody>
      </p:sp>
    </p:spTree>
    <p:extLst>
      <p:ext uri="{BB962C8B-B14F-4D97-AF65-F5344CB8AC3E}">
        <p14:creationId xmlns:p14="http://schemas.microsoft.com/office/powerpoint/2010/main" val="27298008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16</a:t>
            </a:fld>
            <a:endParaRPr lang="en-US"/>
          </a:p>
        </p:txBody>
      </p:sp>
    </p:spTree>
    <p:extLst>
      <p:ext uri="{BB962C8B-B14F-4D97-AF65-F5344CB8AC3E}">
        <p14:creationId xmlns:p14="http://schemas.microsoft.com/office/powerpoint/2010/main" val="13509326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17</a:t>
            </a:fld>
            <a:endParaRPr lang="en-US"/>
          </a:p>
        </p:txBody>
      </p:sp>
    </p:spTree>
    <p:extLst>
      <p:ext uri="{BB962C8B-B14F-4D97-AF65-F5344CB8AC3E}">
        <p14:creationId xmlns:p14="http://schemas.microsoft.com/office/powerpoint/2010/main" val="8952566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18</a:t>
            </a:fld>
            <a:endParaRPr lang="en-US"/>
          </a:p>
        </p:txBody>
      </p:sp>
    </p:spTree>
    <p:extLst>
      <p:ext uri="{BB962C8B-B14F-4D97-AF65-F5344CB8AC3E}">
        <p14:creationId xmlns:p14="http://schemas.microsoft.com/office/powerpoint/2010/main" val="23311093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19</a:t>
            </a:fld>
            <a:endParaRPr lang="en-US"/>
          </a:p>
        </p:txBody>
      </p:sp>
    </p:spTree>
    <p:extLst>
      <p:ext uri="{BB962C8B-B14F-4D97-AF65-F5344CB8AC3E}">
        <p14:creationId xmlns:p14="http://schemas.microsoft.com/office/powerpoint/2010/main" val="31746253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20</a:t>
            </a:fld>
            <a:endParaRPr lang="en-US"/>
          </a:p>
        </p:txBody>
      </p:sp>
    </p:spTree>
    <p:extLst>
      <p:ext uri="{BB962C8B-B14F-4D97-AF65-F5344CB8AC3E}">
        <p14:creationId xmlns:p14="http://schemas.microsoft.com/office/powerpoint/2010/main" val="27053100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21</a:t>
            </a:fld>
            <a:endParaRPr lang="en-US" dirty="0"/>
          </a:p>
        </p:txBody>
      </p:sp>
    </p:spTree>
    <p:extLst>
      <p:ext uri="{BB962C8B-B14F-4D97-AF65-F5344CB8AC3E}">
        <p14:creationId xmlns:p14="http://schemas.microsoft.com/office/powerpoint/2010/main" val="32124533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a:latin typeface="Open Sans Extrabold" panose="020B0906030804020204" pitchFamily="34" charset="0"/>
                <a:ea typeface="Open Sans Extrabold" panose="020B0906030804020204" pitchFamily="34" charset="0"/>
                <a:cs typeface="Open Sans Extrabold" panose="020B0906030804020204" pitchFamily="34" charset="0"/>
              </a:defRPr>
            </a:lvl1p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0500" y="106363"/>
            <a:ext cx="8763000" cy="808037"/>
          </a:xfrm>
        </p:spPr>
        <p:txBody>
          <a:bodyPr/>
          <a:lstStyle>
            <a:lvl1pPr algn="l">
              <a:defRPr>
                <a:latin typeface="+mj-lt"/>
                <a:ea typeface="Open Sans Semibold" panose="020B0706030804020204" pitchFamily="34" charset="0"/>
                <a:cs typeface="Open Sans Semibold" panose="020B0706030804020204" pitchFamily="34" charset="0"/>
              </a:defRPr>
            </a:lvl1pPr>
          </a:lstStyle>
          <a:p>
            <a:r>
              <a:rPr lang="en-US" dirty="0"/>
              <a:t>Click to edit Master title style</a:t>
            </a:r>
          </a:p>
        </p:txBody>
      </p:sp>
      <p:sp>
        <p:nvSpPr>
          <p:cNvPr id="3" name="Content Placeholder 2"/>
          <p:cNvSpPr>
            <a:spLocks noGrp="1"/>
          </p:cNvSpPr>
          <p:nvPr>
            <p:ph idx="1"/>
          </p:nvPr>
        </p:nvSpPr>
        <p:spPr>
          <a:xfrm>
            <a:off x="190500" y="990600"/>
            <a:ext cx="8763000" cy="5334000"/>
          </a:xfrm>
        </p:spPr>
        <p:txBody>
          <a:bodyPr>
            <a:normAutofit/>
          </a:bodyPr>
          <a:lstStyle>
            <a:lvl1pPr marL="342900" indent="-342900">
              <a:lnSpc>
                <a:spcPct val="114000"/>
              </a:lnSpc>
              <a:buClrTx/>
              <a:buFont typeface="Wingdings" panose="05000000000000000000" pitchFamily="2" charset="2"/>
              <a:buChar char="§"/>
              <a:defRPr sz="2400">
                <a:latin typeface="+mj-lt"/>
                <a:ea typeface="Times New Roman" panose="02020603050405020304" pitchFamily="18" charset="0"/>
                <a:cs typeface="Times New Roman" panose="02020603050405020304" pitchFamily="18" charset="0"/>
              </a:defRPr>
            </a:lvl1pPr>
            <a:lvl2pPr marL="742950" indent="-285750">
              <a:lnSpc>
                <a:spcPct val="114000"/>
              </a:lnSpc>
              <a:buClrTx/>
              <a:buFont typeface="Arial" panose="020B0604020202020204" pitchFamily="34" charset="0"/>
              <a:buChar char="•"/>
              <a:defRPr sz="2000">
                <a:latin typeface="+mj-lt"/>
                <a:ea typeface="Times New Roman" panose="02020603050405020304" pitchFamily="18" charset="0"/>
                <a:cs typeface="Times New Roman" panose="02020603050405020304" pitchFamily="18" charset="0"/>
              </a:defRPr>
            </a:lvl2pPr>
            <a:lvl3pPr>
              <a:lnSpc>
                <a:spcPct val="114000"/>
              </a:lnSpc>
              <a:buClrTx/>
              <a:defRPr sz="1800">
                <a:latin typeface="+mj-lt"/>
                <a:ea typeface="Times New Roman" panose="02020603050405020304" pitchFamily="18" charset="0"/>
                <a:cs typeface="Times New Roman" panose="02020603050405020304" pitchFamily="18" charset="0"/>
              </a:defRPr>
            </a:lvl3pPr>
            <a:lvl4pPr>
              <a:lnSpc>
                <a:spcPct val="114000"/>
              </a:lnSpc>
              <a:buClrTx/>
              <a:defRPr sz="1600">
                <a:latin typeface="+mj-lt"/>
                <a:ea typeface="Times New Roman" panose="02020603050405020304" pitchFamily="18" charset="0"/>
                <a:cs typeface="Times New Roman" panose="02020603050405020304" pitchFamily="18" charset="0"/>
              </a:defRPr>
            </a:lvl4pPr>
            <a:lvl5pPr>
              <a:lnSpc>
                <a:spcPct val="114000"/>
              </a:lnSpc>
              <a:buClrTx/>
              <a:defRPr sz="1600">
                <a:latin typeface="+mj-lt"/>
                <a:ea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ktangel 11"/>
          <p:cNvSpPr/>
          <p:nvPr userDrawn="1"/>
        </p:nvSpPr>
        <p:spPr>
          <a:xfrm>
            <a:off x="0" y="6477000"/>
            <a:ext cx="45720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lgn="ctr">
              <a:defRPr/>
            </a:pPr>
            <a:r>
              <a:rPr lang="en-US" sz="1600" noProof="1">
                <a:solidFill>
                  <a:srgbClr val="FFFFFF"/>
                </a:solidFill>
                <a:latin typeface="+mj-lt"/>
                <a:ea typeface="Open Sans" panose="020B0606030504020204" pitchFamily="34" charset="0"/>
                <a:cs typeface="Open Sans" panose="020B0606030504020204" pitchFamily="34" charset="0"/>
              </a:rPr>
              <a:t>Department of Computer</a:t>
            </a:r>
            <a:r>
              <a:rPr lang="en-US" sz="1600" baseline="0" noProof="1">
                <a:solidFill>
                  <a:srgbClr val="FFFFFF"/>
                </a:solidFill>
                <a:latin typeface="+mj-lt"/>
                <a:ea typeface="Open Sans" panose="020B0606030504020204" pitchFamily="34" charset="0"/>
                <a:cs typeface="Open Sans" panose="020B0606030504020204" pitchFamily="34" charset="0"/>
              </a:rPr>
              <a:t> Science and Engineering</a:t>
            </a:r>
            <a:endParaRPr lang="da-DK" sz="1600" noProof="1">
              <a:solidFill>
                <a:srgbClr val="FFFFFF"/>
              </a:solidFill>
              <a:latin typeface="+mj-lt"/>
              <a:ea typeface="Open Sans" panose="020B0606030504020204" pitchFamily="34" charset="0"/>
              <a:cs typeface="Open Sans" panose="020B0606030504020204" pitchFamily="34" charset="0"/>
            </a:endParaRPr>
          </a:p>
        </p:txBody>
      </p:sp>
      <p:cxnSp>
        <p:nvCxnSpPr>
          <p:cNvPr id="6" name="Straight Connector 5"/>
          <p:cNvCxnSpPr/>
          <p:nvPr userDrawn="1"/>
        </p:nvCxnSpPr>
        <p:spPr>
          <a:xfrm>
            <a:off x="190500" y="914400"/>
            <a:ext cx="8763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8" name="Rektangel 11"/>
          <p:cNvSpPr/>
          <p:nvPr userDrawn="1"/>
        </p:nvSpPr>
        <p:spPr>
          <a:xfrm>
            <a:off x="4572000" y="6477490"/>
            <a:ext cx="45720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lgn="ctr">
              <a:defRPr/>
            </a:pPr>
            <a:r>
              <a:rPr lang="da-DK" sz="1600" noProof="1">
                <a:solidFill>
                  <a:srgbClr val="FFFFFF"/>
                </a:solidFill>
                <a:latin typeface="+mj-lt"/>
                <a:ea typeface="Open Sans" panose="020B0606030504020204" pitchFamily="34" charset="0"/>
                <a:cs typeface="Open Sans" panose="020B0606030504020204" pitchFamily="34" charset="0"/>
              </a:rPr>
              <a:t>Rajalakshmi Engineering College 		</a:t>
            </a:r>
            <a:fld id="{6E8469F3-9EE8-43CF-BEDC-475B89412D1D}" type="slidenum">
              <a:rPr lang="da-DK" sz="1600" kern="1200" noProof="1" smtClean="0">
                <a:solidFill>
                  <a:srgbClr val="FFFFFF"/>
                </a:solidFill>
                <a:latin typeface="+mn-lt"/>
                <a:ea typeface="Open Sans" panose="020B0606030504020204" pitchFamily="34" charset="0"/>
                <a:cs typeface="Open Sans" panose="020B0606030504020204" pitchFamily="34" charset="0"/>
              </a:rPr>
              <a:pPr/>
              <a:t>‹#›</a:t>
            </a:fld>
            <a:endParaRPr lang="da-DK" sz="1600" noProof="1">
              <a:solidFill>
                <a:srgbClr val="FFFFFF"/>
              </a:solidFill>
              <a:latin typeface="+mj-lt"/>
              <a:ea typeface="Open Sans" panose="020B0606030504020204" pitchFamily="34" charset="0"/>
              <a:cs typeface="Open Sans" panose="020B0606030504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A8BEFB-AE5B-48F9-BBAD-B489CDE48C8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0.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3.xml"/><Relationship Id="rId4" Type="http://schemas.openxmlformats.org/officeDocument/2006/relationships/image" Target="../media/image5.jp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4.xml"/><Relationship Id="rId4" Type="http://schemas.openxmlformats.org/officeDocument/2006/relationships/image" Target="../media/image6.jp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5.xml"/><Relationship Id="rId4" Type="http://schemas.openxmlformats.org/officeDocument/2006/relationships/image" Target="../media/image7.jp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l="-776" t="63278" r="776" b="-30898"/>
          <a:stretch/>
        </p:blipFill>
        <p:spPr>
          <a:xfrm>
            <a:off x="-72010" y="-2532"/>
            <a:ext cx="9216010" cy="3231811"/>
          </a:xfrm>
          <a:prstGeom prst="rect">
            <a:avLst/>
          </a:prstGeom>
        </p:spPr>
      </p:pic>
      <p:grpSp>
        <p:nvGrpSpPr>
          <p:cNvPr id="20" name="Group 19"/>
          <p:cNvGrpSpPr/>
          <p:nvPr/>
        </p:nvGrpSpPr>
        <p:grpSpPr>
          <a:xfrm>
            <a:off x="-72516" y="986564"/>
            <a:ext cx="9216516" cy="5713610"/>
            <a:chOff x="-72516" y="986564"/>
            <a:chExt cx="9216516" cy="5713610"/>
          </a:xfrm>
        </p:grpSpPr>
        <p:sp>
          <p:nvSpPr>
            <p:cNvPr id="22" name="TextBox 21"/>
            <p:cNvSpPr txBox="1"/>
            <p:nvPr/>
          </p:nvSpPr>
          <p:spPr>
            <a:xfrm>
              <a:off x="202174" y="4761182"/>
              <a:ext cx="6480720" cy="1938992"/>
            </a:xfrm>
            <a:prstGeom prst="rect">
              <a:avLst/>
            </a:prstGeom>
            <a:noFill/>
          </p:spPr>
          <p:txBody>
            <a:bodyPr wrap="square" rtlCol="0">
              <a:spAutoFit/>
            </a:bodyPr>
            <a:lstStyle/>
            <a:p>
              <a:r>
                <a:rPr lang="en-US" sz="2400" b="1" dirty="0"/>
                <a:t>220701229</a:t>
              </a:r>
            </a:p>
            <a:p>
              <a:r>
                <a:rPr lang="en-US" sz="2400" b="1" dirty="0"/>
                <a:t>ROSHINI V S</a:t>
              </a:r>
            </a:p>
            <a:p>
              <a:r>
                <a:rPr lang="en-US" sz="2400" b="1" dirty="0"/>
                <a:t>Mr. Bhuvaneswaran B, M.E. </a:t>
              </a:r>
            </a:p>
            <a:p>
              <a:r>
                <a:rPr lang="en-US" sz="2400" b="1" dirty="0"/>
                <a:t>Assistant Professor, Department of Computer Science and Engineering</a:t>
              </a:r>
            </a:p>
          </p:txBody>
        </p:sp>
        <p:grpSp>
          <p:nvGrpSpPr>
            <p:cNvPr id="43" name="Group 42"/>
            <p:cNvGrpSpPr/>
            <p:nvPr/>
          </p:nvGrpSpPr>
          <p:grpSpPr>
            <a:xfrm>
              <a:off x="-72516" y="986564"/>
              <a:ext cx="9216516" cy="3628907"/>
              <a:chOff x="-72516" y="986564"/>
              <a:chExt cx="9216516" cy="3628907"/>
            </a:xfrm>
          </p:grpSpPr>
          <p:sp>
            <p:nvSpPr>
              <p:cNvPr id="45" name="Freeform 44"/>
              <p:cNvSpPr/>
              <p:nvPr/>
            </p:nvSpPr>
            <p:spPr>
              <a:xfrm>
                <a:off x="5003203" y="1761199"/>
                <a:ext cx="4140797" cy="2622445"/>
              </a:xfrm>
              <a:custGeom>
                <a:avLst/>
                <a:gdLst>
                  <a:gd name="connsiteX0" fmla="*/ 1 w 4140797"/>
                  <a:gd name="connsiteY0" fmla="*/ 0 h 2622445"/>
                  <a:gd name="connsiteX1" fmla="*/ 4140797 w 4140797"/>
                  <a:gd name="connsiteY1" fmla="*/ 0 h 2622445"/>
                  <a:gd name="connsiteX2" fmla="*/ 4140797 w 4140797"/>
                  <a:gd name="connsiteY2" fmla="*/ 2622445 h 2622445"/>
                  <a:gd name="connsiteX3" fmla="*/ 0 w 4140797"/>
                  <a:gd name="connsiteY3" fmla="*/ 2622445 h 2622445"/>
                  <a:gd name="connsiteX4" fmla="*/ 1311223 w 4140797"/>
                  <a:gd name="connsiteY4" fmla="*/ 1311222 h 2622445"/>
                  <a:gd name="connsiteX5" fmla="*/ 1 w 4140797"/>
                  <a:gd name="connsiteY5" fmla="*/ 0 h 2622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40797" h="2622445">
                    <a:moveTo>
                      <a:pt x="1" y="0"/>
                    </a:moveTo>
                    <a:lnTo>
                      <a:pt x="4140797" y="0"/>
                    </a:lnTo>
                    <a:lnTo>
                      <a:pt x="4140797" y="2622445"/>
                    </a:lnTo>
                    <a:lnTo>
                      <a:pt x="0" y="2622445"/>
                    </a:lnTo>
                    <a:lnTo>
                      <a:pt x="1311223" y="1311222"/>
                    </a:lnTo>
                    <a:lnTo>
                      <a:pt x="1" y="0"/>
                    </a:lnTo>
                    <a:close/>
                  </a:path>
                </a:pathLst>
              </a:custGeom>
              <a:solidFill>
                <a:srgbClr val="00AA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Pentagon 45"/>
              <p:cNvSpPr/>
              <p:nvPr/>
            </p:nvSpPr>
            <p:spPr>
              <a:xfrm>
                <a:off x="0" y="1529371"/>
                <a:ext cx="5743977" cy="3086100"/>
              </a:xfrm>
              <a:prstGeom prst="homePlate">
                <a:avLst/>
              </a:prstGeom>
              <a:solidFill>
                <a:srgbClr val="59595B"/>
              </a:solidFill>
              <a:ln>
                <a:solidFill>
                  <a:srgbClr val="59595B"/>
                </a:solid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47" name="Group 46"/>
              <p:cNvGrpSpPr/>
              <p:nvPr/>
            </p:nvGrpSpPr>
            <p:grpSpPr>
              <a:xfrm>
                <a:off x="-72516" y="986564"/>
                <a:ext cx="4072741" cy="1075928"/>
                <a:chOff x="-95346" y="1011603"/>
                <a:chExt cx="5354902" cy="1075928"/>
              </a:xfrm>
            </p:grpSpPr>
            <p:sp>
              <p:nvSpPr>
                <p:cNvPr id="51" name="Pentagon 50"/>
                <p:cNvSpPr/>
                <p:nvPr/>
              </p:nvSpPr>
              <p:spPr>
                <a:xfrm>
                  <a:off x="-19391" y="1011603"/>
                  <a:ext cx="5278947" cy="1075928"/>
                </a:xfrm>
                <a:prstGeom prst="homePlate">
                  <a:avLst/>
                </a:prstGeom>
                <a:solidFill>
                  <a:srgbClr val="00AAAD"/>
                </a:solidFill>
                <a:ln>
                  <a:no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52" name="TextBox 51"/>
                <p:cNvSpPr txBox="1"/>
                <p:nvPr/>
              </p:nvSpPr>
              <p:spPr>
                <a:xfrm>
                  <a:off x="-95346" y="1134069"/>
                  <a:ext cx="5017223" cy="830997"/>
                </a:xfrm>
                <a:prstGeom prst="rect">
                  <a:avLst/>
                </a:prstGeom>
                <a:noFill/>
              </p:spPr>
              <p:txBody>
                <a:bodyPr wrap="square" rtlCol="0" anchor="ctr">
                  <a:spAutoFit/>
                </a:bodyPr>
                <a:lstStyle/>
                <a:p>
                  <a:pPr algn="ctr"/>
                  <a:r>
                    <a:rPr lang="en-US" sz="2400" b="1" dirty="0">
                      <a:solidFill>
                        <a:schemeClr val="bg1"/>
                      </a:solidFill>
                      <a:ea typeface="Open Sans Light" panose="020B0306030504020204" pitchFamily="34" charset="0"/>
                      <a:cs typeface="Open Sans Light" panose="020B0306030504020204" pitchFamily="34" charset="0"/>
                    </a:rPr>
                    <a:t>Mobile Application Development Laboratory</a:t>
                  </a:r>
                </a:p>
              </p:txBody>
            </p:sp>
          </p:grpSp>
          <p:sp>
            <p:nvSpPr>
              <p:cNvPr id="48" name="TextBox 47"/>
              <p:cNvSpPr txBox="1"/>
              <p:nvPr/>
            </p:nvSpPr>
            <p:spPr>
              <a:xfrm>
                <a:off x="177782" y="2100903"/>
                <a:ext cx="4188156" cy="1754326"/>
              </a:xfrm>
              <a:prstGeom prst="rect">
                <a:avLst/>
              </a:prstGeom>
              <a:noFill/>
            </p:spPr>
            <p:txBody>
              <a:bodyPr wrap="square" rtlCol="0">
                <a:spAutoFit/>
              </a:bodyPr>
              <a:lstStyle/>
              <a:p>
                <a:r>
                  <a:rPr lang="en-US" sz="5400" b="1" dirty="0">
                    <a:solidFill>
                      <a:schemeClr val="bg1"/>
                    </a:solidFill>
                    <a:ea typeface="Open Sans Bold" panose="020B0806030504020204" pitchFamily="34" charset="0"/>
                    <a:cs typeface="Open Sans Bold" panose="020B0806030504020204" pitchFamily="34" charset="0"/>
                  </a:rPr>
                  <a:t>Title of </a:t>
                </a:r>
                <a:r>
                  <a:rPr lang="en-US" sz="5400" b="1">
                    <a:solidFill>
                      <a:schemeClr val="bg1"/>
                    </a:solidFill>
                    <a:ea typeface="Open Sans Bold" panose="020B0806030504020204" pitchFamily="34" charset="0"/>
                    <a:cs typeface="Open Sans Bold" panose="020B0806030504020204" pitchFamily="34" charset="0"/>
                  </a:rPr>
                  <a:t>the Mini Project</a:t>
                </a:r>
                <a:endParaRPr lang="en-US" sz="5400" b="1" dirty="0">
                  <a:solidFill>
                    <a:schemeClr val="bg1"/>
                  </a:solidFill>
                  <a:ea typeface="Open Sans Bold" panose="020B0806030504020204" pitchFamily="34" charset="0"/>
                  <a:cs typeface="Open Sans Bold" panose="020B0806030504020204" pitchFamily="34" charset="0"/>
                </a:endParaRPr>
              </a:p>
            </p:txBody>
          </p:sp>
          <p:sp>
            <p:nvSpPr>
              <p:cNvPr id="50" name="Freeform 49"/>
              <p:cNvSpPr/>
              <p:nvPr/>
            </p:nvSpPr>
            <p:spPr>
              <a:xfrm>
                <a:off x="4652237" y="1529372"/>
                <a:ext cx="1672363" cy="3086099"/>
              </a:xfrm>
              <a:custGeom>
                <a:avLst/>
                <a:gdLst>
                  <a:gd name="connsiteX0" fmla="*/ 0 w 1672363"/>
                  <a:gd name="connsiteY0" fmla="*/ 0 h 3086099"/>
                  <a:gd name="connsiteX1" fmla="*/ 129314 w 1672363"/>
                  <a:gd name="connsiteY1" fmla="*/ 0 h 3086099"/>
                  <a:gd name="connsiteX2" fmla="*/ 1672363 w 1672363"/>
                  <a:gd name="connsiteY2" fmla="*/ 1543050 h 3086099"/>
                  <a:gd name="connsiteX3" fmla="*/ 129314 w 1672363"/>
                  <a:gd name="connsiteY3" fmla="*/ 3086099 h 3086099"/>
                  <a:gd name="connsiteX4" fmla="*/ 0 w 1672363"/>
                  <a:gd name="connsiteY4" fmla="*/ 3086099 h 3086099"/>
                  <a:gd name="connsiteX5" fmla="*/ 1543049 w 1672363"/>
                  <a:gd name="connsiteY5" fmla="*/ 1543050 h 3086099"/>
                  <a:gd name="connsiteX6" fmla="*/ 0 w 1672363"/>
                  <a:gd name="connsiteY6" fmla="*/ 0 h 3086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72363" h="3086099">
                    <a:moveTo>
                      <a:pt x="0" y="0"/>
                    </a:moveTo>
                    <a:lnTo>
                      <a:pt x="129314" y="0"/>
                    </a:lnTo>
                    <a:lnTo>
                      <a:pt x="1672363" y="1543050"/>
                    </a:lnTo>
                    <a:lnTo>
                      <a:pt x="129314" y="3086099"/>
                    </a:lnTo>
                    <a:lnTo>
                      <a:pt x="0" y="3086099"/>
                    </a:lnTo>
                    <a:lnTo>
                      <a:pt x="1543049" y="1543050"/>
                    </a:lnTo>
                    <a:lnTo>
                      <a:pt x="0" y="0"/>
                    </a:lnTo>
                    <a:close/>
                  </a:path>
                </a:pathLst>
              </a:custGeom>
              <a:solidFill>
                <a:srgbClr val="A1A6A9"/>
              </a:solidFill>
              <a:ln>
                <a:no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gr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28284" y="4803813"/>
            <a:ext cx="1813542" cy="1541511"/>
          </a:xfrm>
          <a:prstGeom prst="rect">
            <a:avLst/>
          </a:prstGeom>
        </p:spPr>
      </p:pic>
    </p:spTree>
    <p:extLst>
      <p:ext uri="{BB962C8B-B14F-4D97-AF65-F5344CB8AC3E}">
        <p14:creationId xmlns:p14="http://schemas.microsoft.com/office/powerpoint/2010/main" val="9298666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Abstract</a:t>
            </a:r>
            <a:endParaRPr lang="en-IN" dirty="0">
              <a:latin typeface="+mj-lt"/>
            </a:endParaRPr>
          </a:p>
        </p:txBody>
      </p:sp>
      <p:sp>
        <p:nvSpPr>
          <p:cNvPr id="3" name="Content Placeholder 2"/>
          <p:cNvSpPr>
            <a:spLocks noGrp="1"/>
          </p:cNvSpPr>
          <p:nvPr>
            <p:ph idx="1"/>
          </p:nvPr>
        </p:nvSpPr>
        <p:spPr/>
        <p:txBody>
          <a:bodyPr/>
          <a:lstStyle/>
          <a:p>
            <a:r>
              <a:rPr lang="en-US" dirty="0"/>
              <a:t>This project introduces a mobile-based Note Sharing App that enables students to upload, browse, and download academic notes categorized by semester, subject, and year. Built with Kotlin and Firebase, the app ensures secure authentication, real-time data access, and offline availability of downloaded content. The system promotes collaborative learning and provides an organized platform for educational resource sharing. Future work includes content validation and personalized recommendations.</a:t>
            </a:r>
          </a:p>
        </p:txBody>
      </p:sp>
    </p:spTree>
    <p:custDataLst>
      <p:tags r:id="rId1"/>
    </p:custDataLst>
    <p:extLst>
      <p:ext uri="{BB962C8B-B14F-4D97-AF65-F5344CB8AC3E}">
        <p14:creationId xmlns:p14="http://schemas.microsoft.com/office/powerpoint/2010/main" val="25404079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Need for the Proposed System</a:t>
            </a:r>
            <a:endParaRPr lang="en-IN" dirty="0">
              <a:latin typeface="+mj-lt"/>
            </a:endParaRPr>
          </a:p>
        </p:txBody>
      </p:sp>
      <p:sp>
        <p:nvSpPr>
          <p:cNvPr id="3" name="Content Placeholder 2"/>
          <p:cNvSpPr>
            <a:spLocks noGrp="1"/>
          </p:cNvSpPr>
          <p:nvPr>
            <p:ph idx="1"/>
          </p:nvPr>
        </p:nvSpPr>
        <p:spPr/>
        <p:txBody>
          <a:bodyPr/>
          <a:lstStyle/>
          <a:p>
            <a:r>
              <a:rPr lang="en-US" dirty="0"/>
              <a:t>The proposed system is a Kotlin-based mobile app that allows students to securely sign in, upload, and download academic notes categorized by year, semester, and subject. It uses Firebase Authentication for login, Cloud Storage for file handling, and </a:t>
            </a:r>
            <a:r>
              <a:rPr lang="en-US" dirty="0" err="1"/>
              <a:t>Firestore</a:t>
            </a:r>
            <a:r>
              <a:rPr lang="en-US" dirty="0"/>
              <a:t> for metadata. A simple Jetpack Compose UI enables easy navigation, and a profile page lets users track their activity. This centralized platform promotes organized and collaborative note sharing.</a:t>
            </a:r>
          </a:p>
        </p:txBody>
      </p:sp>
    </p:spTree>
    <p:custDataLst>
      <p:tags r:id="rId1"/>
    </p:custDataLst>
    <p:extLst>
      <p:ext uri="{BB962C8B-B14F-4D97-AF65-F5344CB8AC3E}">
        <p14:creationId xmlns:p14="http://schemas.microsoft.com/office/powerpoint/2010/main" val="35484857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Advantages of the Proposed System</a:t>
            </a:r>
            <a:endParaRPr lang="en-IN" dirty="0">
              <a:latin typeface="+mj-lt"/>
            </a:endParaRPr>
          </a:p>
        </p:txBody>
      </p:sp>
      <p:sp>
        <p:nvSpPr>
          <p:cNvPr id="3" name="Content Placeholder 2"/>
          <p:cNvSpPr>
            <a:spLocks noGrp="1"/>
          </p:cNvSpPr>
          <p:nvPr>
            <p:ph idx="1"/>
          </p:nvPr>
        </p:nvSpPr>
        <p:spPr/>
        <p:txBody>
          <a:bodyPr/>
          <a:lstStyle/>
          <a:p>
            <a:r>
              <a:rPr lang="en-US" dirty="0"/>
              <a:t>The proposed system offers a centralized and organized platform where students can easily upload and access study materials based on academic year, semester, and subject. With a simple and user-friendly interface, it minimizes effort in searching for notes. The use of Firebase Authentication ensures secure user access, while cloud storage allows easy and reliable access to uploaded content anytime. This system also promotes collaborative learning by encouraging students to share resources with peers.</a:t>
            </a:r>
          </a:p>
        </p:txBody>
      </p:sp>
    </p:spTree>
    <p:custDataLst>
      <p:tags r:id="rId1"/>
    </p:custDataLst>
    <p:extLst>
      <p:ext uri="{BB962C8B-B14F-4D97-AF65-F5344CB8AC3E}">
        <p14:creationId xmlns:p14="http://schemas.microsoft.com/office/powerpoint/2010/main" val="13323072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Literature Survey</a:t>
            </a:r>
            <a:endParaRPr lang="en-IN" dirty="0">
              <a:latin typeface="+mj-lt"/>
            </a:endParaRPr>
          </a:p>
        </p:txBody>
      </p:sp>
      <p:graphicFrame>
        <p:nvGraphicFramePr>
          <p:cNvPr id="4" name="Table 3">
            <a:extLst>
              <a:ext uri="{FF2B5EF4-FFF2-40B4-BE49-F238E27FC236}">
                <a16:creationId xmlns:a16="http://schemas.microsoft.com/office/drawing/2014/main" id="{F059242A-2CA3-85F5-28D6-A5C4DEBDE94A}"/>
              </a:ext>
            </a:extLst>
          </p:cNvPr>
          <p:cNvGraphicFramePr>
            <a:graphicFrameLocks noGrp="1"/>
          </p:cNvGraphicFramePr>
          <p:nvPr>
            <p:extLst>
              <p:ext uri="{D42A27DB-BD31-4B8C-83A1-F6EECF244321}">
                <p14:modId xmlns:p14="http://schemas.microsoft.com/office/powerpoint/2010/main" val="480019670"/>
              </p:ext>
            </p:extLst>
          </p:nvPr>
        </p:nvGraphicFramePr>
        <p:xfrm>
          <a:off x="431540" y="1556792"/>
          <a:ext cx="8255260" cy="2743200"/>
        </p:xfrm>
        <a:graphic>
          <a:graphicData uri="http://schemas.openxmlformats.org/drawingml/2006/table">
            <a:tbl>
              <a:tblPr/>
              <a:tblGrid>
                <a:gridCol w="2232248">
                  <a:extLst>
                    <a:ext uri="{9D8B030D-6E8A-4147-A177-3AD203B41FA5}">
                      <a16:colId xmlns:a16="http://schemas.microsoft.com/office/drawing/2014/main" val="3618938201"/>
                    </a:ext>
                  </a:extLst>
                </a:gridCol>
                <a:gridCol w="3279812">
                  <a:extLst>
                    <a:ext uri="{9D8B030D-6E8A-4147-A177-3AD203B41FA5}">
                      <a16:colId xmlns:a16="http://schemas.microsoft.com/office/drawing/2014/main" val="2208458791"/>
                    </a:ext>
                  </a:extLst>
                </a:gridCol>
                <a:gridCol w="2743200">
                  <a:extLst>
                    <a:ext uri="{9D8B030D-6E8A-4147-A177-3AD203B41FA5}">
                      <a16:colId xmlns:a16="http://schemas.microsoft.com/office/drawing/2014/main" val="3461419923"/>
                    </a:ext>
                  </a:extLst>
                </a:gridCol>
              </a:tblGrid>
              <a:tr h="0">
                <a:tc>
                  <a:txBody>
                    <a:bodyPr/>
                    <a:lstStyle/>
                    <a:p>
                      <a:r>
                        <a:rPr lang="en-IN" b="1" dirty="0"/>
                        <a:t>Paper</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b="1"/>
                        <a:t>Advantages</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b="1"/>
                        <a:t>Disadvantages</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49338175"/>
                  </a:ext>
                </a:extLst>
              </a:tr>
              <a:tr h="0">
                <a:tc>
                  <a:txBody>
                    <a:bodyPr/>
                    <a:lstStyle/>
                    <a:p>
                      <a:r>
                        <a:rPr lang="en-IN" b="1" dirty="0"/>
                        <a:t>[1] Smith &amp; Jones (2019)</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indent="-285750">
                        <a:buFont typeface="Wingdings" panose="05000000000000000000" pitchFamily="2" charset="2"/>
                        <a:buChar char="§"/>
                      </a:pPr>
                      <a:r>
                        <a:rPr lang="en-US" dirty="0"/>
                        <a:t>Encourages collaboration</a:t>
                      </a:r>
                    </a:p>
                    <a:p>
                      <a:pPr marL="285750" indent="-285750">
                        <a:buFont typeface="Wingdings" panose="05000000000000000000" pitchFamily="2" charset="2"/>
                        <a:buChar char="§"/>
                      </a:pPr>
                      <a:r>
                        <a:rPr lang="en-US" dirty="0"/>
                        <a:t>Easy access to notes</a:t>
                      </a:r>
                    </a:p>
                    <a:p>
                      <a:pPr marL="285750" indent="-285750">
                        <a:buFont typeface="Wingdings" panose="05000000000000000000" pitchFamily="2" charset="2"/>
                        <a:buChar char="§"/>
                      </a:pPr>
                      <a:r>
                        <a:rPr lang="en-US" dirty="0"/>
                        <a:t>Promotes eco-friendly learning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indent="-285750">
                        <a:buFont typeface="Wingdings" panose="05000000000000000000" pitchFamily="2" charset="2"/>
                        <a:buChar char="§"/>
                      </a:pPr>
                      <a:r>
                        <a:rPr lang="en-US" dirty="0"/>
                        <a:t>Needs internet </a:t>
                      </a:r>
                    </a:p>
                    <a:p>
                      <a:pPr marL="285750" indent="-285750">
                        <a:buFont typeface="Wingdings" panose="05000000000000000000" pitchFamily="2" charset="2"/>
                        <a:buChar char="§"/>
                      </a:pPr>
                      <a:r>
                        <a:rPr lang="en-US" dirty="0"/>
                        <a:t>Quality of notes not guaranteed </a:t>
                      </a:r>
                    </a:p>
                    <a:p>
                      <a:pPr marL="285750" indent="-285750">
                        <a:buFont typeface="Wingdings" panose="05000000000000000000" pitchFamily="2" charset="2"/>
                        <a:buChar char="§"/>
                      </a:pPr>
                      <a:r>
                        <a:rPr lang="en-US" dirty="0"/>
                        <a:t>Possible privacy issues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82430339"/>
                  </a:ext>
                </a:extLst>
              </a:tr>
              <a:tr h="0">
                <a:tc>
                  <a:txBody>
                    <a:bodyPr/>
                    <a:lstStyle/>
                    <a:p>
                      <a:r>
                        <a:rPr lang="en-IN" b="1" dirty="0"/>
                        <a:t>[2] M. Lee (2020)</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indent="-285750">
                        <a:buFont typeface="Wingdings" panose="05000000000000000000" pitchFamily="2" charset="2"/>
                        <a:buChar char="§"/>
                      </a:pPr>
                      <a:r>
                        <a:rPr lang="en-US" dirty="0"/>
                        <a:t>Smart search &amp; tags </a:t>
                      </a:r>
                    </a:p>
                    <a:p>
                      <a:pPr marL="285750" indent="-285750">
                        <a:buFont typeface="Wingdings" panose="05000000000000000000" pitchFamily="2" charset="2"/>
                        <a:buChar char="§"/>
                      </a:pPr>
                      <a:r>
                        <a:rPr lang="en-US" dirty="0"/>
                        <a:t>Personalized suggestions </a:t>
                      </a:r>
                    </a:p>
                    <a:p>
                      <a:pPr marL="285750" indent="-285750">
                        <a:buFont typeface="Wingdings" panose="05000000000000000000" pitchFamily="2" charset="2"/>
                        <a:buChar char="§"/>
                      </a:pPr>
                      <a:r>
                        <a:rPr lang="en-US" dirty="0"/>
                        <a:t>Cloud backup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indent="-285750">
                        <a:buFont typeface="Wingdings" panose="05000000000000000000" pitchFamily="2" charset="2"/>
                        <a:buChar char="§"/>
                      </a:pPr>
                      <a:r>
                        <a:rPr lang="en-US" dirty="0"/>
                        <a:t>Bias in recommendations.</a:t>
                      </a:r>
                    </a:p>
                    <a:p>
                      <a:pPr marL="285750" indent="-285750">
                        <a:buFont typeface="Wingdings" panose="05000000000000000000" pitchFamily="2" charset="2"/>
                        <a:buChar char="§"/>
                      </a:pPr>
                      <a:r>
                        <a:rPr lang="en-US" dirty="0"/>
                        <a:t>Not user-friendly for all</a:t>
                      </a:r>
                    </a:p>
                    <a:p>
                      <a:pPr marL="285750" indent="-285750">
                        <a:buFont typeface="Wingdings" panose="05000000000000000000" pitchFamily="2" charset="2"/>
                        <a:buChar char="§"/>
                      </a:pPr>
                      <a:r>
                        <a:rPr lang="en-US" dirty="0"/>
                        <a:t>Poor LMS integration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94381596"/>
                  </a:ext>
                </a:extLst>
              </a:tr>
            </a:tbl>
          </a:graphicData>
        </a:graphic>
      </p:graphicFrame>
    </p:spTree>
    <p:custDataLst>
      <p:tags r:id="rId1"/>
    </p:custDataLst>
    <p:extLst>
      <p:ext uri="{BB962C8B-B14F-4D97-AF65-F5344CB8AC3E}">
        <p14:creationId xmlns:p14="http://schemas.microsoft.com/office/powerpoint/2010/main" val="31064302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Main Objective</a:t>
            </a:r>
            <a:endParaRPr lang="en-IN" dirty="0">
              <a:latin typeface="+mj-lt"/>
            </a:endParaRPr>
          </a:p>
        </p:txBody>
      </p:sp>
      <p:sp>
        <p:nvSpPr>
          <p:cNvPr id="3" name="Content Placeholder 2"/>
          <p:cNvSpPr>
            <a:spLocks noGrp="1"/>
          </p:cNvSpPr>
          <p:nvPr>
            <p:ph idx="1"/>
          </p:nvPr>
        </p:nvSpPr>
        <p:spPr/>
        <p:txBody>
          <a:bodyPr/>
          <a:lstStyle/>
          <a:p>
            <a:r>
              <a:rPr lang="en-US" dirty="0"/>
              <a:t>The main objective of this system is to develop a simple, user-friendly mobile application that enables students to upload, share, and access academic notes based on year, semester, and subject. The app aims to support collaborative learning by providing an organized platform where students can easily find and contribute study materials.</a:t>
            </a:r>
          </a:p>
        </p:txBody>
      </p:sp>
    </p:spTree>
    <p:custDataLst>
      <p:tags r:id="rId1"/>
    </p:custDataLst>
    <p:extLst>
      <p:ext uri="{BB962C8B-B14F-4D97-AF65-F5344CB8AC3E}">
        <p14:creationId xmlns:p14="http://schemas.microsoft.com/office/powerpoint/2010/main" val="40945783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Architecture</a:t>
            </a:r>
            <a:endParaRPr lang="en-IN" dirty="0">
              <a:latin typeface="+mj-lt"/>
            </a:endParaRPr>
          </a:p>
        </p:txBody>
      </p:sp>
      <p:pic>
        <p:nvPicPr>
          <p:cNvPr id="2050" name="Picture 2">
            <a:extLst>
              <a:ext uri="{FF2B5EF4-FFF2-40B4-BE49-F238E27FC236}">
                <a16:creationId xmlns:a16="http://schemas.microsoft.com/office/drawing/2014/main" id="{DFF060F1-9DB6-1EAC-EA2E-5CC5B928220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1561" y="1042051"/>
            <a:ext cx="8140877" cy="4773897"/>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37622339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System Requirements</a:t>
            </a:r>
            <a:endParaRPr lang="en-IN" dirty="0">
              <a:latin typeface="+mj-lt"/>
            </a:endParaRPr>
          </a:p>
        </p:txBody>
      </p:sp>
      <p:sp>
        <p:nvSpPr>
          <p:cNvPr id="3" name="Content Placeholder 2"/>
          <p:cNvSpPr>
            <a:spLocks noGrp="1"/>
          </p:cNvSpPr>
          <p:nvPr>
            <p:ph idx="1"/>
          </p:nvPr>
        </p:nvSpPr>
        <p:spPr/>
        <p:txBody>
          <a:bodyPr numCol="2">
            <a:normAutofit/>
          </a:bodyPr>
          <a:lstStyle/>
          <a:p>
            <a:pPr>
              <a:buNone/>
            </a:pPr>
            <a:r>
              <a:rPr lang="en-US" b="1" dirty="0"/>
              <a:t>Hardware Requirements:</a:t>
            </a:r>
          </a:p>
          <a:p>
            <a:pPr>
              <a:buFont typeface="Arial" panose="020B0604020202020204" pitchFamily="34" charset="0"/>
              <a:buChar char="•"/>
            </a:pPr>
            <a:r>
              <a:rPr lang="en-US" sz="2000" b="1" dirty="0"/>
              <a:t>Device:</a:t>
            </a:r>
            <a:r>
              <a:rPr lang="en-US" sz="2000" dirty="0"/>
              <a:t> Android smartphone </a:t>
            </a:r>
          </a:p>
          <a:p>
            <a:pPr marL="0" indent="0">
              <a:buNone/>
            </a:pPr>
            <a:r>
              <a:rPr lang="en-US" sz="2000" dirty="0"/>
              <a:t>or tablet</a:t>
            </a:r>
          </a:p>
          <a:p>
            <a:pPr>
              <a:buFont typeface="Arial" panose="020B0604020202020204" pitchFamily="34" charset="0"/>
              <a:buChar char="•"/>
            </a:pPr>
            <a:r>
              <a:rPr lang="en-US" sz="2000" b="1" dirty="0"/>
              <a:t>Processor:</a:t>
            </a:r>
            <a:r>
              <a:rPr lang="en-US" sz="2000" dirty="0"/>
              <a:t> 1.5 GHz or higher</a:t>
            </a:r>
          </a:p>
          <a:p>
            <a:pPr>
              <a:buFont typeface="Arial" panose="020B0604020202020204" pitchFamily="34" charset="0"/>
              <a:buChar char="•"/>
            </a:pPr>
            <a:r>
              <a:rPr lang="en-US" sz="2000" b="1" dirty="0"/>
              <a:t>RAM:</a:t>
            </a:r>
            <a:r>
              <a:rPr lang="en-US" sz="2000" dirty="0"/>
              <a:t> 2 GB or more</a:t>
            </a:r>
          </a:p>
          <a:p>
            <a:pPr>
              <a:buFont typeface="Arial" panose="020B0604020202020204" pitchFamily="34" charset="0"/>
              <a:buChar char="•"/>
            </a:pPr>
            <a:r>
              <a:rPr lang="en-US" sz="2000" b="1" dirty="0"/>
              <a:t>Storage:</a:t>
            </a:r>
            <a:r>
              <a:rPr lang="en-US" sz="2000" dirty="0"/>
              <a:t> 100 MB free space (for app and notes)</a:t>
            </a:r>
          </a:p>
          <a:p>
            <a:pPr>
              <a:buFont typeface="Arial" panose="020B0604020202020204" pitchFamily="34" charset="0"/>
              <a:buChar char="•"/>
            </a:pPr>
            <a:r>
              <a:rPr lang="en-US" sz="2000" b="1" dirty="0"/>
              <a:t>Display:</a:t>
            </a:r>
            <a:r>
              <a:rPr lang="en-US" sz="2000" dirty="0"/>
              <a:t> 720p or higher resolution</a:t>
            </a:r>
          </a:p>
          <a:p>
            <a:pPr>
              <a:buNone/>
            </a:pPr>
            <a:endParaRPr lang="en-IN" b="1" dirty="0"/>
          </a:p>
          <a:p>
            <a:pPr>
              <a:buNone/>
            </a:pPr>
            <a:endParaRPr lang="en-IN" b="1" dirty="0"/>
          </a:p>
          <a:p>
            <a:pPr>
              <a:buNone/>
            </a:pPr>
            <a:endParaRPr lang="en-IN" b="1" dirty="0"/>
          </a:p>
          <a:p>
            <a:pPr>
              <a:buNone/>
            </a:pPr>
            <a:endParaRPr lang="en-IN" b="1" dirty="0"/>
          </a:p>
          <a:p>
            <a:pPr>
              <a:buNone/>
            </a:pPr>
            <a:r>
              <a:rPr lang="en-IN" sz="2600" b="1" dirty="0"/>
              <a:t>Software Requirements:</a:t>
            </a:r>
          </a:p>
          <a:p>
            <a:pPr>
              <a:buFont typeface="Arial" panose="020B0604020202020204" pitchFamily="34" charset="0"/>
              <a:buChar char="•"/>
            </a:pPr>
            <a:r>
              <a:rPr lang="en-IN" sz="2200" b="1" dirty="0"/>
              <a:t>OS:</a:t>
            </a:r>
            <a:r>
              <a:rPr lang="en-IN" sz="2200" dirty="0"/>
              <a:t> Android 5.0 or higher</a:t>
            </a:r>
          </a:p>
          <a:p>
            <a:pPr>
              <a:buFont typeface="Arial" panose="020B0604020202020204" pitchFamily="34" charset="0"/>
              <a:buChar char="•"/>
            </a:pPr>
            <a:r>
              <a:rPr lang="en-IN" sz="2200" b="1" dirty="0"/>
              <a:t>Development:</a:t>
            </a:r>
            <a:r>
              <a:rPr lang="en-IN" sz="2200" dirty="0"/>
              <a:t> Android Studio, Kotlin</a:t>
            </a:r>
          </a:p>
          <a:p>
            <a:pPr>
              <a:buFont typeface="Arial" panose="020B0604020202020204" pitchFamily="34" charset="0"/>
              <a:buChar char="•"/>
            </a:pPr>
            <a:r>
              <a:rPr lang="en-IN" sz="2200" b="1" dirty="0"/>
              <a:t>Libraries:</a:t>
            </a:r>
            <a:r>
              <a:rPr lang="en-IN" sz="2200" dirty="0"/>
              <a:t> </a:t>
            </a:r>
            <a:r>
              <a:rPr lang="en-IN" sz="2200" dirty="0" err="1"/>
              <a:t>RecyclerView</a:t>
            </a:r>
            <a:r>
              <a:rPr lang="en-IN" sz="2200" dirty="0"/>
              <a:t>, Room Database, Glide/Picasso</a:t>
            </a:r>
          </a:p>
          <a:p>
            <a:pPr>
              <a:buFont typeface="Arial" panose="020B0604020202020204" pitchFamily="34" charset="0"/>
              <a:buChar char="•"/>
            </a:pPr>
            <a:r>
              <a:rPr lang="en-IN" sz="2200" b="1" dirty="0"/>
              <a:t>Version Control:</a:t>
            </a:r>
            <a:r>
              <a:rPr lang="en-IN" sz="2200" dirty="0"/>
              <a:t> Git</a:t>
            </a:r>
          </a:p>
          <a:p>
            <a:pPr>
              <a:buFont typeface="Arial" panose="020B0604020202020204" pitchFamily="34" charset="0"/>
              <a:buChar char="•"/>
            </a:pPr>
            <a:endParaRPr lang="en-US" dirty="0"/>
          </a:p>
        </p:txBody>
      </p:sp>
    </p:spTree>
    <p:custDataLst>
      <p:tags r:id="rId1"/>
    </p:custDataLst>
    <p:extLst>
      <p:ext uri="{BB962C8B-B14F-4D97-AF65-F5344CB8AC3E}">
        <p14:creationId xmlns:p14="http://schemas.microsoft.com/office/powerpoint/2010/main" val="12252271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Functional Description</a:t>
            </a:r>
            <a:endParaRPr lang="en-IN" dirty="0">
              <a:latin typeface="+mj-lt"/>
            </a:endParaRPr>
          </a:p>
        </p:txBody>
      </p:sp>
      <p:sp>
        <p:nvSpPr>
          <p:cNvPr id="3" name="Content Placeholder 2"/>
          <p:cNvSpPr>
            <a:spLocks noGrp="1"/>
          </p:cNvSpPr>
          <p:nvPr>
            <p:ph idx="1"/>
          </p:nvPr>
        </p:nvSpPr>
        <p:spPr/>
        <p:txBody>
          <a:bodyPr/>
          <a:lstStyle/>
          <a:p>
            <a:pPr>
              <a:buNone/>
            </a:pPr>
            <a:r>
              <a:rPr lang="en-US" b="1" dirty="0"/>
              <a:t>Module 1: User Interface (UI) &amp; Note Upload</a:t>
            </a:r>
          </a:p>
          <a:p>
            <a:pPr>
              <a:buNone/>
            </a:pPr>
            <a:r>
              <a:rPr lang="en-US" b="1" dirty="0"/>
              <a:t>Short Description:</a:t>
            </a:r>
            <a:br>
              <a:rPr lang="en-US" dirty="0"/>
            </a:br>
            <a:r>
              <a:rPr lang="en-US" dirty="0"/>
              <a:t>This module focuses on the main interface of the app, where users can navigate through different categories (year, semester, subject) to upload and share notes. It allows users to select files, view their uploaded notes, and browse available notes by other users.</a:t>
            </a:r>
          </a:p>
          <a:p>
            <a:r>
              <a:rPr lang="en-US" b="1" dirty="0"/>
              <a:t>DFD / Activity Diagram:</a:t>
            </a:r>
            <a:br>
              <a:rPr lang="en-US" dirty="0"/>
            </a:br>
            <a:r>
              <a:rPr lang="en-US" dirty="0"/>
              <a:t>The module includes a flow from the home screen, where users can select categories, to uploading files. Once the notes are uploaded, the app will store them locally and display them in the appropriate section.</a:t>
            </a:r>
          </a:p>
        </p:txBody>
      </p:sp>
    </p:spTree>
    <p:custDataLst>
      <p:tags r:id="rId1"/>
    </p:custDataLst>
    <p:extLst>
      <p:ext uri="{BB962C8B-B14F-4D97-AF65-F5344CB8AC3E}">
        <p14:creationId xmlns:p14="http://schemas.microsoft.com/office/powerpoint/2010/main" val="7845066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B9554-2F81-D0F5-EA85-578CA0166D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E49893-56F4-5646-BE14-F30EB6FD0E38}"/>
              </a:ext>
            </a:extLst>
          </p:cNvPr>
          <p:cNvSpPr>
            <a:spLocks noGrp="1"/>
          </p:cNvSpPr>
          <p:nvPr>
            <p:ph type="title"/>
          </p:nvPr>
        </p:nvSpPr>
        <p:spPr/>
        <p:txBody>
          <a:bodyPr>
            <a:normAutofit/>
          </a:bodyPr>
          <a:lstStyle/>
          <a:p>
            <a:r>
              <a:rPr lang="en-US" dirty="0"/>
              <a:t>Functional Description</a:t>
            </a:r>
            <a:endParaRPr lang="en-IN" dirty="0">
              <a:latin typeface="+mj-lt"/>
            </a:endParaRPr>
          </a:p>
        </p:txBody>
      </p:sp>
      <p:sp>
        <p:nvSpPr>
          <p:cNvPr id="3" name="Content Placeholder 2">
            <a:extLst>
              <a:ext uri="{FF2B5EF4-FFF2-40B4-BE49-F238E27FC236}">
                <a16:creationId xmlns:a16="http://schemas.microsoft.com/office/drawing/2014/main" id="{54FFF8BA-6868-49F9-C4FA-6B240FFABB2D}"/>
              </a:ext>
            </a:extLst>
          </p:cNvPr>
          <p:cNvSpPr>
            <a:spLocks noGrp="1"/>
          </p:cNvSpPr>
          <p:nvPr>
            <p:ph idx="1"/>
          </p:nvPr>
        </p:nvSpPr>
        <p:spPr/>
        <p:txBody>
          <a:bodyPr/>
          <a:lstStyle/>
          <a:p>
            <a:pPr>
              <a:buNone/>
            </a:pPr>
            <a:r>
              <a:rPr lang="en-US" b="1" dirty="0"/>
              <a:t>Module 2: Note Viewing and Downloading</a:t>
            </a:r>
          </a:p>
          <a:p>
            <a:pPr>
              <a:buNone/>
            </a:pPr>
            <a:r>
              <a:rPr lang="en-US" b="1" dirty="0"/>
              <a:t>Short Description:</a:t>
            </a:r>
            <a:br>
              <a:rPr lang="en-US" dirty="0"/>
            </a:br>
            <a:r>
              <a:rPr lang="en-US" dirty="0"/>
              <a:t>This module allows users to browse, view, and download notes shared by others. It categorizes notes by subject, semester, and year. The app provides an easy-to-use interface to view content, with the option to download for offline use.</a:t>
            </a:r>
          </a:p>
          <a:p>
            <a:r>
              <a:rPr lang="en-US" b="1" dirty="0"/>
              <a:t>DFD / Activity Diagram:</a:t>
            </a:r>
            <a:br>
              <a:rPr lang="en-US" dirty="0"/>
            </a:br>
            <a:r>
              <a:rPr lang="en-US" dirty="0"/>
              <a:t>Users can view the list of available notes based on filters, download them for offline use, and access the file through the app's interface. This is supported by the local storage where notes are saved.</a:t>
            </a:r>
          </a:p>
        </p:txBody>
      </p:sp>
    </p:spTree>
    <p:custDataLst>
      <p:tags r:id="rId1"/>
    </p:custDataLst>
    <p:extLst>
      <p:ext uri="{BB962C8B-B14F-4D97-AF65-F5344CB8AC3E}">
        <p14:creationId xmlns:p14="http://schemas.microsoft.com/office/powerpoint/2010/main" val="30787246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Table Design</a:t>
            </a:r>
            <a:endParaRPr lang="en-IN" dirty="0">
              <a:latin typeface="+mj-lt"/>
            </a:endParaRPr>
          </a:p>
        </p:txBody>
      </p:sp>
      <p:pic>
        <p:nvPicPr>
          <p:cNvPr id="7" name="Picture 6">
            <a:extLst>
              <a:ext uri="{FF2B5EF4-FFF2-40B4-BE49-F238E27FC236}">
                <a16:creationId xmlns:a16="http://schemas.microsoft.com/office/drawing/2014/main" id="{164BA50E-2212-E93E-D60C-307B7FEC0667}"/>
              </a:ext>
            </a:extLst>
          </p:cNvPr>
          <p:cNvPicPr>
            <a:picLocks noChangeAspect="1"/>
          </p:cNvPicPr>
          <p:nvPr/>
        </p:nvPicPr>
        <p:blipFill>
          <a:blip r:embed="rId4"/>
          <a:stretch>
            <a:fillRect/>
          </a:stretch>
        </p:blipFill>
        <p:spPr>
          <a:xfrm>
            <a:off x="1133618" y="1088740"/>
            <a:ext cx="6876764" cy="5287447"/>
          </a:xfrm>
          <a:prstGeom prst="rect">
            <a:avLst/>
          </a:prstGeom>
        </p:spPr>
      </p:pic>
    </p:spTree>
    <p:custDataLst>
      <p:tags r:id="rId1"/>
    </p:custDataLst>
    <p:extLst>
      <p:ext uri="{BB962C8B-B14F-4D97-AF65-F5344CB8AC3E}">
        <p14:creationId xmlns:p14="http://schemas.microsoft.com/office/powerpoint/2010/main" val="16391693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Process Design</a:t>
            </a:r>
            <a:endParaRPr lang="en-IN" dirty="0">
              <a:latin typeface="+mj-lt"/>
            </a:endParaRPr>
          </a:p>
        </p:txBody>
      </p:sp>
      <p:sp>
        <p:nvSpPr>
          <p:cNvPr id="3" name="Content Placeholder 2"/>
          <p:cNvSpPr>
            <a:spLocks noGrp="1"/>
          </p:cNvSpPr>
          <p:nvPr>
            <p:ph idx="1"/>
          </p:nvPr>
        </p:nvSpPr>
        <p:spPr>
          <a:xfrm>
            <a:off x="545046" y="1052736"/>
            <a:ext cx="8053908" cy="5334000"/>
          </a:xfrm>
        </p:spPr>
        <p:txBody>
          <a:bodyPr/>
          <a:lstStyle/>
          <a:p>
            <a:pPr>
              <a:buNone/>
            </a:pPr>
            <a:r>
              <a:rPr lang="en-US" b="1" dirty="0"/>
              <a:t>Main Process: Note Sharing System</a:t>
            </a:r>
          </a:p>
          <a:p>
            <a:pPr>
              <a:buNone/>
            </a:pPr>
            <a:r>
              <a:rPr lang="en-US" b="1" dirty="0"/>
              <a:t>Description:</a:t>
            </a:r>
            <a:br>
              <a:rPr lang="en-US" dirty="0"/>
            </a:br>
            <a:r>
              <a:rPr lang="en-US" dirty="0"/>
              <a:t>Manages user interactions like uploading, viewing, and downloading notes with categories like subject and semester.</a:t>
            </a:r>
          </a:p>
          <a:p>
            <a:pPr>
              <a:buNone/>
            </a:pPr>
            <a:r>
              <a:rPr lang="en-US" b="1" dirty="0"/>
              <a:t>Steps:</a:t>
            </a:r>
            <a:endParaRPr lang="en-US" dirty="0"/>
          </a:p>
          <a:p>
            <a:pPr>
              <a:buFont typeface="+mj-lt"/>
              <a:buAutoNum type="arabicPeriod"/>
            </a:pPr>
            <a:r>
              <a:rPr lang="en-US" b="1" dirty="0"/>
              <a:t>Upload Notes</a:t>
            </a:r>
            <a:r>
              <a:rPr lang="en-US" dirty="0"/>
              <a:t> - User uploads and categorizes notes.</a:t>
            </a:r>
          </a:p>
          <a:p>
            <a:pPr>
              <a:buFont typeface="+mj-lt"/>
              <a:buAutoNum type="arabicPeriod"/>
            </a:pPr>
            <a:r>
              <a:rPr lang="en-US" b="1" dirty="0"/>
              <a:t>View Notes</a:t>
            </a:r>
            <a:r>
              <a:rPr lang="en-US" dirty="0"/>
              <a:t> - User browses and views notes.</a:t>
            </a:r>
          </a:p>
          <a:p>
            <a:pPr>
              <a:buFont typeface="+mj-lt"/>
              <a:buAutoNum type="arabicPeriod"/>
            </a:pPr>
            <a:r>
              <a:rPr lang="en-US" b="1" dirty="0"/>
              <a:t>Download Notes</a:t>
            </a:r>
            <a:r>
              <a:rPr lang="en-US" dirty="0"/>
              <a:t> - User downloads selected notes.</a:t>
            </a:r>
          </a:p>
        </p:txBody>
      </p:sp>
    </p:spTree>
    <p:custDataLst>
      <p:tags r:id="rId1"/>
    </p:custDataLst>
    <p:extLst>
      <p:ext uri="{BB962C8B-B14F-4D97-AF65-F5344CB8AC3E}">
        <p14:creationId xmlns:p14="http://schemas.microsoft.com/office/powerpoint/2010/main" val="30234279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6B69BD-6AF3-0AFC-CB95-2FE097C8B0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DD61E4-EFED-3C49-1E60-98A9707479F6}"/>
              </a:ext>
            </a:extLst>
          </p:cNvPr>
          <p:cNvSpPr>
            <a:spLocks noGrp="1"/>
          </p:cNvSpPr>
          <p:nvPr>
            <p:ph type="title"/>
          </p:nvPr>
        </p:nvSpPr>
        <p:spPr/>
        <p:txBody>
          <a:bodyPr>
            <a:normAutofit/>
          </a:bodyPr>
          <a:lstStyle/>
          <a:p>
            <a:r>
              <a:rPr lang="en-US" dirty="0"/>
              <a:t>Process Design</a:t>
            </a:r>
            <a:endParaRPr lang="en-IN" dirty="0">
              <a:latin typeface="+mj-lt"/>
            </a:endParaRPr>
          </a:p>
        </p:txBody>
      </p:sp>
      <p:sp>
        <p:nvSpPr>
          <p:cNvPr id="3" name="Content Placeholder 2">
            <a:extLst>
              <a:ext uri="{FF2B5EF4-FFF2-40B4-BE49-F238E27FC236}">
                <a16:creationId xmlns:a16="http://schemas.microsoft.com/office/drawing/2014/main" id="{1A0246DD-EFDC-5BEA-63F1-0D1619B6E946}"/>
              </a:ext>
            </a:extLst>
          </p:cNvPr>
          <p:cNvSpPr>
            <a:spLocks noGrp="1"/>
          </p:cNvSpPr>
          <p:nvPr>
            <p:ph idx="1"/>
          </p:nvPr>
        </p:nvSpPr>
        <p:spPr>
          <a:xfrm>
            <a:off x="190500" y="1052736"/>
            <a:ext cx="8763000" cy="5334000"/>
          </a:xfrm>
        </p:spPr>
        <p:txBody>
          <a:bodyPr numCol="3">
            <a:normAutofit/>
          </a:bodyPr>
          <a:lstStyle/>
          <a:p>
            <a:pPr>
              <a:buNone/>
            </a:pPr>
            <a:r>
              <a:rPr lang="en-US" b="1" dirty="0"/>
              <a:t>Sub Process 1: Note Upload</a:t>
            </a:r>
          </a:p>
          <a:p>
            <a:pPr>
              <a:buNone/>
            </a:pPr>
            <a:r>
              <a:rPr lang="en-US" b="1" dirty="0"/>
              <a:t>Description:</a:t>
            </a:r>
            <a:r>
              <a:rPr lang="en-US" dirty="0"/>
              <a:t> Handles file upload </a:t>
            </a:r>
          </a:p>
          <a:p>
            <a:pPr>
              <a:buNone/>
            </a:pPr>
            <a:r>
              <a:rPr lang="en-US" dirty="0"/>
              <a:t>and categorization.</a:t>
            </a:r>
          </a:p>
          <a:p>
            <a:pPr>
              <a:buNone/>
            </a:pPr>
            <a:r>
              <a:rPr lang="en-US" b="1" dirty="0"/>
              <a:t>Steps:</a:t>
            </a:r>
            <a:endParaRPr lang="en-US" dirty="0"/>
          </a:p>
          <a:p>
            <a:pPr>
              <a:buFont typeface="+mj-lt"/>
              <a:buAutoNum type="arabicPeriod"/>
            </a:pPr>
            <a:r>
              <a:rPr lang="en-US" dirty="0"/>
              <a:t>Select File</a:t>
            </a:r>
          </a:p>
          <a:p>
            <a:pPr>
              <a:buFont typeface="+mj-lt"/>
              <a:buAutoNum type="arabicPeriod"/>
            </a:pPr>
            <a:r>
              <a:rPr lang="en-US" dirty="0"/>
              <a:t>Assign Metadata</a:t>
            </a:r>
          </a:p>
          <a:p>
            <a:pPr>
              <a:buFont typeface="+mj-lt"/>
              <a:buAutoNum type="arabicPeriod"/>
            </a:pPr>
            <a:r>
              <a:rPr lang="en-US" dirty="0"/>
              <a:t>Store</a:t>
            </a:r>
          </a:p>
          <a:p>
            <a:pPr>
              <a:buNone/>
            </a:pPr>
            <a:endParaRPr lang="en-US" b="1" dirty="0"/>
          </a:p>
          <a:p>
            <a:pPr>
              <a:buNone/>
            </a:pPr>
            <a:endParaRPr lang="en-US" b="1" dirty="0"/>
          </a:p>
          <a:p>
            <a:pPr>
              <a:buNone/>
            </a:pPr>
            <a:r>
              <a:rPr lang="en-US" b="1" dirty="0"/>
              <a:t>Sub Process 2: Note Viewing</a:t>
            </a:r>
          </a:p>
          <a:p>
            <a:pPr>
              <a:buNone/>
            </a:pPr>
            <a:r>
              <a:rPr lang="en-US" b="1" dirty="0"/>
              <a:t>Description:</a:t>
            </a:r>
            <a:r>
              <a:rPr lang="en-US" dirty="0"/>
              <a:t> Browsing and viewing notes.</a:t>
            </a:r>
          </a:p>
          <a:p>
            <a:pPr>
              <a:buNone/>
            </a:pPr>
            <a:r>
              <a:rPr lang="en-US" b="1" dirty="0"/>
              <a:t>Steps:</a:t>
            </a:r>
            <a:endParaRPr lang="en-US" dirty="0"/>
          </a:p>
          <a:p>
            <a:pPr>
              <a:buFont typeface="+mj-lt"/>
              <a:buAutoNum type="arabicPeriod"/>
            </a:pPr>
            <a:r>
              <a:rPr lang="en-US" dirty="0"/>
              <a:t>Filter Notes</a:t>
            </a:r>
          </a:p>
          <a:p>
            <a:pPr>
              <a:buFont typeface="+mj-lt"/>
              <a:buAutoNum type="arabicPeriod"/>
            </a:pPr>
            <a:r>
              <a:rPr lang="en-US" dirty="0"/>
              <a:t>Display Notes</a:t>
            </a:r>
          </a:p>
          <a:p>
            <a:pPr>
              <a:buFont typeface="+mj-lt"/>
              <a:buAutoNum type="arabicPeriod"/>
            </a:pPr>
            <a:r>
              <a:rPr lang="en-US" dirty="0"/>
              <a:t>View Selected Note</a:t>
            </a:r>
          </a:p>
          <a:p>
            <a:pPr>
              <a:buNone/>
            </a:pPr>
            <a:endParaRPr lang="en-US" b="1" dirty="0"/>
          </a:p>
          <a:p>
            <a:pPr>
              <a:buNone/>
            </a:pPr>
            <a:endParaRPr lang="en-US" b="1" dirty="0"/>
          </a:p>
          <a:p>
            <a:pPr>
              <a:buNone/>
            </a:pPr>
            <a:endParaRPr lang="en-US" b="1" dirty="0"/>
          </a:p>
          <a:p>
            <a:pPr>
              <a:buNone/>
            </a:pPr>
            <a:r>
              <a:rPr lang="en-US" b="1" dirty="0"/>
              <a:t>Sub Process 3: Note Download</a:t>
            </a:r>
          </a:p>
          <a:p>
            <a:pPr>
              <a:buNone/>
            </a:pPr>
            <a:r>
              <a:rPr lang="en-US" b="1" dirty="0"/>
              <a:t>Description:</a:t>
            </a:r>
            <a:r>
              <a:rPr lang="en-US" dirty="0"/>
              <a:t> Handles note download for offline use.</a:t>
            </a:r>
          </a:p>
          <a:p>
            <a:pPr>
              <a:buNone/>
            </a:pPr>
            <a:r>
              <a:rPr lang="en-US" b="1" dirty="0"/>
              <a:t>Steps:</a:t>
            </a:r>
            <a:endParaRPr lang="en-US" dirty="0"/>
          </a:p>
          <a:p>
            <a:pPr>
              <a:buFont typeface="+mj-lt"/>
              <a:buAutoNum type="arabicPeriod"/>
            </a:pPr>
            <a:r>
              <a:rPr lang="en-US" dirty="0"/>
              <a:t>Select Note</a:t>
            </a:r>
          </a:p>
          <a:p>
            <a:pPr>
              <a:buFont typeface="+mj-lt"/>
              <a:buAutoNum type="arabicPeriod"/>
            </a:pPr>
            <a:r>
              <a:rPr lang="en-US" dirty="0"/>
              <a:t>Store Locally</a:t>
            </a:r>
          </a:p>
          <a:p>
            <a:pPr>
              <a:buFont typeface="+mj-lt"/>
              <a:buAutoNum type="arabicPeriod"/>
            </a:pPr>
            <a:r>
              <a:rPr lang="en-US" dirty="0"/>
              <a:t>Confirm Download</a:t>
            </a:r>
          </a:p>
          <a:p>
            <a:pPr marL="0" indent="0">
              <a:buNone/>
            </a:pPr>
            <a:endParaRPr lang="en-US" dirty="0"/>
          </a:p>
        </p:txBody>
      </p:sp>
    </p:spTree>
    <p:custDataLst>
      <p:tags r:id="rId1"/>
    </p:custDataLst>
    <p:extLst>
      <p:ext uri="{BB962C8B-B14F-4D97-AF65-F5344CB8AC3E}">
        <p14:creationId xmlns:p14="http://schemas.microsoft.com/office/powerpoint/2010/main" val="11599022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Implementation</a:t>
            </a:r>
            <a:endParaRPr lang="en-IN" dirty="0">
              <a:latin typeface="+mj-lt"/>
            </a:endParaRPr>
          </a:p>
        </p:txBody>
      </p:sp>
      <p:sp>
        <p:nvSpPr>
          <p:cNvPr id="3" name="Content Placeholder 2"/>
          <p:cNvSpPr>
            <a:spLocks noGrp="1"/>
          </p:cNvSpPr>
          <p:nvPr>
            <p:ph idx="1"/>
          </p:nvPr>
        </p:nvSpPr>
        <p:spPr>
          <a:xfrm>
            <a:off x="190500" y="990600"/>
            <a:ext cx="4165476" cy="5334000"/>
          </a:xfrm>
        </p:spPr>
        <p:txBody>
          <a:bodyPr/>
          <a:lstStyle/>
          <a:p>
            <a:pPr>
              <a:buNone/>
            </a:pPr>
            <a:r>
              <a:rPr lang="en-US" b="1" dirty="0"/>
              <a:t>Implementation of Module 1: Note Viewing</a:t>
            </a:r>
          </a:p>
          <a:p>
            <a:r>
              <a:rPr lang="en-US" dirty="0"/>
              <a:t>This module lets users browse and view notes filtered by subject, year, and semester. A search feature helps find specific notes, displaying details like title, description, and subject.</a:t>
            </a:r>
          </a:p>
        </p:txBody>
      </p:sp>
      <p:pic>
        <p:nvPicPr>
          <p:cNvPr id="5" name="Picture 4">
            <a:extLst>
              <a:ext uri="{FF2B5EF4-FFF2-40B4-BE49-F238E27FC236}">
                <a16:creationId xmlns:a16="http://schemas.microsoft.com/office/drawing/2014/main" id="{38154B5B-B8BF-01DF-E4D1-5D9578A9EAC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80112" y="332656"/>
            <a:ext cx="2592288" cy="5760640"/>
          </a:xfrm>
          <a:prstGeom prst="rect">
            <a:avLst/>
          </a:prstGeom>
        </p:spPr>
      </p:pic>
    </p:spTree>
    <p:custDataLst>
      <p:tags r:id="rId1"/>
    </p:custDataLst>
    <p:extLst>
      <p:ext uri="{BB962C8B-B14F-4D97-AF65-F5344CB8AC3E}">
        <p14:creationId xmlns:p14="http://schemas.microsoft.com/office/powerpoint/2010/main" val="17694729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8AFDDE-53E5-3FFE-644E-444EF49960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77BD0D-024A-7A9C-CE9C-75E66BE854C4}"/>
              </a:ext>
            </a:extLst>
          </p:cNvPr>
          <p:cNvSpPr>
            <a:spLocks noGrp="1"/>
          </p:cNvSpPr>
          <p:nvPr>
            <p:ph type="title"/>
          </p:nvPr>
        </p:nvSpPr>
        <p:spPr/>
        <p:txBody>
          <a:bodyPr>
            <a:normAutofit/>
          </a:bodyPr>
          <a:lstStyle/>
          <a:p>
            <a:r>
              <a:rPr lang="en-US" dirty="0"/>
              <a:t>Implementation</a:t>
            </a:r>
            <a:endParaRPr lang="en-IN" dirty="0">
              <a:latin typeface="+mj-lt"/>
            </a:endParaRPr>
          </a:p>
        </p:txBody>
      </p:sp>
      <p:sp>
        <p:nvSpPr>
          <p:cNvPr id="3" name="Content Placeholder 2">
            <a:extLst>
              <a:ext uri="{FF2B5EF4-FFF2-40B4-BE49-F238E27FC236}">
                <a16:creationId xmlns:a16="http://schemas.microsoft.com/office/drawing/2014/main" id="{8E013196-172D-55FB-4795-B27EA4FE3A92}"/>
              </a:ext>
            </a:extLst>
          </p:cNvPr>
          <p:cNvSpPr>
            <a:spLocks noGrp="1"/>
          </p:cNvSpPr>
          <p:nvPr>
            <p:ph idx="1"/>
          </p:nvPr>
        </p:nvSpPr>
        <p:spPr>
          <a:xfrm>
            <a:off x="190500" y="990600"/>
            <a:ext cx="4165476" cy="5334000"/>
          </a:xfrm>
        </p:spPr>
        <p:txBody>
          <a:bodyPr/>
          <a:lstStyle/>
          <a:p>
            <a:pPr>
              <a:buNone/>
            </a:pPr>
            <a:r>
              <a:rPr lang="en-US" b="1" dirty="0"/>
              <a:t>Implementation of Module 2: Note Upload</a:t>
            </a:r>
          </a:p>
          <a:p>
            <a:r>
              <a:rPr lang="en-US" dirty="0"/>
              <a:t>Users can upload notes by selecting files and adding metadata like subject and semester. The uploaded notes are stored for future access.</a:t>
            </a:r>
          </a:p>
        </p:txBody>
      </p:sp>
      <p:pic>
        <p:nvPicPr>
          <p:cNvPr id="5" name="Picture 4">
            <a:extLst>
              <a:ext uri="{FF2B5EF4-FFF2-40B4-BE49-F238E27FC236}">
                <a16:creationId xmlns:a16="http://schemas.microsoft.com/office/drawing/2014/main" id="{56ECFB93-3AB9-831F-79F8-D0ADC072812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80112" y="510381"/>
            <a:ext cx="2400300" cy="5334000"/>
          </a:xfrm>
          <a:prstGeom prst="rect">
            <a:avLst/>
          </a:prstGeom>
        </p:spPr>
      </p:pic>
    </p:spTree>
    <p:custDataLst>
      <p:tags r:id="rId1"/>
    </p:custDataLst>
    <p:extLst>
      <p:ext uri="{BB962C8B-B14F-4D97-AF65-F5344CB8AC3E}">
        <p14:creationId xmlns:p14="http://schemas.microsoft.com/office/powerpoint/2010/main" val="42305624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Testing</a:t>
            </a:r>
            <a:endParaRPr lang="en-IN" dirty="0">
              <a:latin typeface="+mj-lt"/>
            </a:endParaRPr>
          </a:p>
        </p:txBody>
      </p:sp>
      <p:sp>
        <p:nvSpPr>
          <p:cNvPr id="3" name="Content Placeholder 2"/>
          <p:cNvSpPr>
            <a:spLocks noGrp="1"/>
          </p:cNvSpPr>
          <p:nvPr>
            <p:ph idx="1"/>
          </p:nvPr>
        </p:nvSpPr>
        <p:spPr>
          <a:xfrm>
            <a:off x="190500" y="990600"/>
            <a:ext cx="3697424" cy="5334000"/>
          </a:xfrm>
        </p:spPr>
        <p:txBody>
          <a:bodyPr/>
          <a:lstStyle/>
          <a:p>
            <a:r>
              <a:rPr lang="en-US" dirty="0"/>
              <a:t>Testing verifies users can upload notes with correct metadata. It also checks that notes are categorized correctly and errors are handled, especially for unsupported formats.</a:t>
            </a:r>
          </a:p>
        </p:txBody>
      </p:sp>
      <p:pic>
        <p:nvPicPr>
          <p:cNvPr id="5" name="Picture 4">
            <a:extLst>
              <a:ext uri="{FF2B5EF4-FFF2-40B4-BE49-F238E27FC236}">
                <a16:creationId xmlns:a16="http://schemas.microsoft.com/office/drawing/2014/main" id="{E42BE1AF-15D2-AAAA-0D98-28A05C78BA9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36096" y="368660"/>
            <a:ext cx="2592288" cy="5760640"/>
          </a:xfrm>
          <a:prstGeom prst="rect">
            <a:avLst/>
          </a:prstGeom>
        </p:spPr>
      </p:pic>
    </p:spTree>
    <p:custDataLst>
      <p:tags r:id="rId1"/>
    </p:custDataLst>
    <p:extLst>
      <p:ext uri="{BB962C8B-B14F-4D97-AF65-F5344CB8AC3E}">
        <p14:creationId xmlns:p14="http://schemas.microsoft.com/office/powerpoint/2010/main" val="19213275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Conclusions</a:t>
            </a:r>
            <a:endParaRPr lang="en-IN" dirty="0">
              <a:latin typeface="+mj-lt"/>
            </a:endParaRPr>
          </a:p>
        </p:txBody>
      </p:sp>
      <p:sp>
        <p:nvSpPr>
          <p:cNvPr id="3" name="Content Placeholder 2"/>
          <p:cNvSpPr>
            <a:spLocks noGrp="1"/>
          </p:cNvSpPr>
          <p:nvPr>
            <p:ph idx="1"/>
          </p:nvPr>
        </p:nvSpPr>
        <p:spPr/>
        <p:txBody>
          <a:bodyPr/>
          <a:lstStyle/>
          <a:p>
            <a:r>
              <a:rPr lang="en-US" dirty="0"/>
              <a:t>The Note Sharing App successfully facilitates easy sharing and accessing of study materials. With a user-friendly interface for searching, filtering, and uploading notes, it enhances collaborative learning. Testing ensures the app's functionality is reliable, with smooth performance for both viewing and uploading notes. By providing an efficient platform for students, the app promotes knowledge sharing and streamlines study material management. However, future improvements could include adding authentication and cloud storage features to enhance data security and accessibility.</a:t>
            </a:r>
          </a:p>
          <a:p>
            <a:endParaRPr lang="en-US" dirty="0"/>
          </a:p>
        </p:txBody>
      </p:sp>
    </p:spTree>
    <p:custDataLst>
      <p:tags r:id="rId1"/>
    </p:custDataLst>
    <p:extLst>
      <p:ext uri="{BB962C8B-B14F-4D97-AF65-F5344CB8AC3E}">
        <p14:creationId xmlns:p14="http://schemas.microsoft.com/office/powerpoint/2010/main" val="7153749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Future Enhancement</a:t>
            </a:r>
            <a:endParaRPr lang="en-IN" dirty="0">
              <a:latin typeface="+mj-lt"/>
            </a:endParaRPr>
          </a:p>
        </p:txBody>
      </p:sp>
      <p:sp>
        <p:nvSpPr>
          <p:cNvPr id="3" name="Content Placeholder 2"/>
          <p:cNvSpPr>
            <a:spLocks noGrp="1"/>
          </p:cNvSpPr>
          <p:nvPr>
            <p:ph idx="1"/>
          </p:nvPr>
        </p:nvSpPr>
        <p:spPr/>
        <p:txBody>
          <a:bodyPr/>
          <a:lstStyle/>
          <a:p>
            <a:r>
              <a:rPr lang="en-US" dirty="0"/>
              <a:t>To enhance security and personalization, implementing user authentication would allow students to create accounts, manage their notes, and track uploads. Cloud storage integration would ensure that notes are safely stored and accessible across multiple devices, providing users with seamless access to their content anytime, anywhere.</a:t>
            </a:r>
          </a:p>
          <a:p>
            <a:r>
              <a:rPr lang="en-US" dirty="0"/>
              <a:t>Introducing real-time collaboration features, such as shared notes or group discussions, could foster better interaction between users. This would enable students to collaborate on notes, add comments, and share resources in real-time, enhancing the learning experience and promoting collective knowledge sharing.</a:t>
            </a:r>
          </a:p>
        </p:txBody>
      </p:sp>
    </p:spTree>
    <p:custDataLst>
      <p:tags r:id="rId1"/>
    </p:custDataLst>
    <p:extLst>
      <p:ext uri="{BB962C8B-B14F-4D97-AF65-F5344CB8AC3E}">
        <p14:creationId xmlns:p14="http://schemas.microsoft.com/office/powerpoint/2010/main" val="21108532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IEEE Paper</a:t>
            </a:r>
            <a:endParaRPr lang="en-IN" dirty="0">
              <a:latin typeface="+mj-lt"/>
            </a:endParaRPr>
          </a:p>
        </p:txBody>
      </p:sp>
      <p:sp>
        <p:nvSpPr>
          <p:cNvPr id="3" name="Content Placeholder 2"/>
          <p:cNvSpPr>
            <a:spLocks noGrp="1"/>
          </p:cNvSpPr>
          <p:nvPr>
            <p:ph idx="1"/>
          </p:nvPr>
        </p:nvSpPr>
        <p:spPr/>
        <p:txBody>
          <a:bodyPr/>
          <a:lstStyle/>
          <a:p>
            <a:r>
              <a:rPr lang="en-US" b="1" dirty="0"/>
              <a:t>Title</a:t>
            </a:r>
            <a:r>
              <a:rPr lang="en-US" dirty="0"/>
              <a:t>: </a:t>
            </a:r>
            <a:r>
              <a:rPr lang="en-US" i="1" dirty="0"/>
              <a:t>Extending and Evaluating a Collaborative Note-Taking Application: A Pilot Study</a:t>
            </a:r>
            <a:br>
              <a:rPr lang="en-US" dirty="0"/>
            </a:br>
            <a:r>
              <a:rPr lang="en-US" b="1" dirty="0"/>
              <a:t>Authors</a:t>
            </a:r>
            <a:r>
              <a:rPr lang="en-US" dirty="0"/>
              <a:t>: E. Popescu, S. Ilie, and C. Stefan</a:t>
            </a:r>
          </a:p>
          <a:p>
            <a:endParaRPr lang="en-US" dirty="0"/>
          </a:p>
          <a:p>
            <a:r>
              <a:rPr lang="en-US" b="1" dirty="0"/>
              <a:t>Title</a:t>
            </a:r>
            <a:r>
              <a:rPr lang="en-US" dirty="0"/>
              <a:t>: </a:t>
            </a:r>
            <a:r>
              <a:rPr lang="en-US" i="1" dirty="0"/>
              <a:t>A System Perspective to Establish a Mobile Collaborative Learning Environment</a:t>
            </a:r>
            <a:br>
              <a:rPr lang="en-US" dirty="0"/>
            </a:br>
            <a:r>
              <a:rPr lang="en-US" b="1" dirty="0"/>
              <a:t>Authors</a:t>
            </a:r>
            <a:r>
              <a:rPr lang="en-US" dirty="0"/>
              <a:t>: Y. Zhang, X. Li, J. Liu, and Y. Zhang</a:t>
            </a:r>
          </a:p>
        </p:txBody>
      </p:sp>
    </p:spTree>
    <p:custDataLst>
      <p:tags r:id="rId1"/>
    </p:custDataLst>
    <p:extLst>
      <p:ext uri="{BB962C8B-B14F-4D97-AF65-F5344CB8AC3E}">
        <p14:creationId xmlns:p14="http://schemas.microsoft.com/office/powerpoint/2010/main" val="32772628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References</a:t>
            </a:r>
            <a:endParaRPr lang="en-IN" dirty="0">
              <a:latin typeface="+mj-lt"/>
            </a:endParaRPr>
          </a:p>
        </p:txBody>
      </p:sp>
      <p:sp>
        <p:nvSpPr>
          <p:cNvPr id="3" name="Content Placeholder 2"/>
          <p:cNvSpPr>
            <a:spLocks noGrp="1"/>
          </p:cNvSpPr>
          <p:nvPr>
            <p:ph idx="1"/>
          </p:nvPr>
        </p:nvSpPr>
        <p:spPr/>
        <p:txBody>
          <a:bodyPr/>
          <a:lstStyle/>
          <a:p>
            <a:pPr>
              <a:buNone/>
            </a:pPr>
            <a:r>
              <a:rPr lang="en-IN" dirty="0"/>
              <a:t>[1] E. Popescu, S. Ilie, and C. Stefan, "Extending and Evaluating a Collaborative Note-Taking Application: A Pilot Study," </a:t>
            </a:r>
            <a:r>
              <a:rPr lang="en-IN" i="1" dirty="0"/>
              <a:t>IEEE Transactions on Learning Technologies</a:t>
            </a:r>
            <a:r>
              <a:rPr lang="en-IN" dirty="0"/>
              <a:t>, vol. 14, no. 1, pp. 54–63, Jan.–Mar. 2021, </a:t>
            </a:r>
            <a:r>
              <a:rPr lang="en-IN" dirty="0" err="1"/>
              <a:t>doi</a:t>
            </a:r>
            <a:r>
              <a:rPr lang="en-IN" dirty="0"/>
              <a:t>: 10.1109/TLT.2020.2992689.</a:t>
            </a:r>
          </a:p>
          <a:p>
            <a:r>
              <a:rPr lang="en-IN" dirty="0"/>
              <a:t>[2] Y. Zhang, X. Li, J. Liu, and Y. Zhang, "A System Perspective to Establish a Mobile Collaborative Learning Environment," </a:t>
            </a:r>
            <a:r>
              <a:rPr lang="en-IN" i="1" dirty="0"/>
              <a:t>IEEE Access</a:t>
            </a:r>
            <a:r>
              <a:rPr lang="en-IN" dirty="0"/>
              <a:t>, vol. 8, pp. 115305–115316, 2020, </a:t>
            </a:r>
            <a:r>
              <a:rPr lang="en-IN" dirty="0" err="1"/>
              <a:t>doi</a:t>
            </a:r>
            <a:r>
              <a:rPr lang="en-IN" dirty="0"/>
              <a:t>: 10.1109/ACCESS.2020.3003683.</a:t>
            </a:r>
          </a:p>
          <a:p>
            <a:endParaRPr lang="en-US" dirty="0"/>
          </a:p>
        </p:txBody>
      </p:sp>
    </p:spTree>
    <p:custDataLst>
      <p:tags r:id="rId1"/>
    </p:custDataLst>
    <p:extLst>
      <p:ext uri="{BB962C8B-B14F-4D97-AF65-F5344CB8AC3E}">
        <p14:creationId xmlns:p14="http://schemas.microsoft.com/office/powerpoint/2010/main" val="19304747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290782" y="2651428"/>
            <a:ext cx="6562438" cy="1569660"/>
          </a:xfrm>
          <a:prstGeom prst="rect">
            <a:avLst/>
          </a:prstGeom>
          <a:noFill/>
        </p:spPr>
        <p:txBody>
          <a:bodyPr wrap="none" lIns="91440" tIns="45720" rIns="91440" bIns="45720">
            <a:spAutoFit/>
          </a:bodyPr>
          <a:lstStyle/>
          <a:p>
            <a:pPr algn="ctr"/>
            <a:r>
              <a:rPr lang="en-US" sz="9600" dirty="0">
                <a:ln w="0"/>
                <a:effectLst>
                  <a:outerShdw blurRad="38100" dist="19050" dir="2700000" algn="tl" rotWithShape="0">
                    <a:schemeClr val="dk1">
                      <a:alpha val="40000"/>
                    </a:schemeClr>
                  </a:outerShdw>
                </a:effectLst>
              </a:rPr>
              <a:t>Thank You…!</a:t>
            </a:r>
          </a:p>
        </p:txBody>
      </p:sp>
    </p:spTree>
    <p:extLst>
      <p:ext uri="{BB962C8B-B14F-4D97-AF65-F5344CB8AC3E}">
        <p14:creationId xmlns:p14="http://schemas.microsoft.com/office/powerpoint/2010/main" val="207485784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1|4|2.4|1.4"/>
</p:tagLst>
</file>

<file path=ppt/tags/tag2.xml><?xml version="1.0" encoding="utf-8"?>
<p:tagLst xmlns:a="http://schemas.openxmlformats.org/drawingml/2006/main" xmlns:r="http://schemas.openxmlformats.org/officeDocument/2006/relationships" xmlns:p="http://schemas.openxmlformats.org/presentationml/2006/main">
  <p:tag name="TIMING" val="|1.1|4|2.4|1.4"/>
</p:tagLst>
</file>

<file path=ppt/tags/tag3.xml><?xml version="1.0" encoding="utf-8"?>
<p:tagLst xmlns:a="http://schemas.openxmlformats.org/drawingml/2006/main" xmlns:r="http://schemas.openxmlformats.org/officeDocument/2006/relationships" xmlns:p="http://schemas.openxmlformats.org/presentationml/2006/main">
  <p:tag name="TIMING" val="|1.1|4|2.4|1.4"/>
</p:tagLst>
</file>

<file path=ppt/tags/tag4.xml><?xml version="1.0" encoding="utf-8"?>
<p:tagLst xmlns:a="http://schemas.openxmlformats.org/drawingml/2006/main" xmlns:r="http://schemas.openxmlformats.org/officeDocument/2006/relationships" xmlns:p="http://schemas.openxmlformats.org/presentationml/2006/main">
  <p:tag name="TIMING" val="|1.1|4|2.4|1.4"/>
</p:tagLst>
</file>

<file path=ppt/tags/tag5.xml><?xml version="1.0" encoding="utf-8"?>
<p:tagLst xmlns:a="http://schemas.openxmlformats.org/drawingml/2006/main" xmlns:r="http://schemas.openxmlformats.org/officeDocument/2006/relationships" xmlns:p="http://schemas.openxmlformats.org/presentationml/2006/main">
  <p:tag name="TIMING" val="|1.1|4|2.4|1.4"/>
</p:tagLst>
</file>

<file path=ppt/tags/tag6.xml><?xml version="1.0" encoding="utf-8"?>
<p:tagLst xmlns:a="http://schemas.openxmlformats.org/drawingml/2006/main" xmlns:r="http://schemas.openxmlformats.org/officeDocument/2006/relationships" xmlns:p="http://schemas.openxmlformats.org/presentationml/2006/main">
  <p:tag name="TIMING" val="|1.1|4|2.4|1.4"/>
</p:tagLst>
</file>

<file path=ppt/tags/tag7.xml><?xml version="1.0" encoding="utf-8"?>
<p:tagLst xmlns:a="http://schemas.openxmlformats.org/drawingml/2006/main" xmlns:r="http://schemas.openxmlformats.org/officeDocument/2006/relationships" xmlns:p="http://schemas.openxmlformats.org/presentationml/2006/main">
  <p:tag name="TIMING" val="|1.1|4|2.4|1.4"/>
</p:tagLst>
</file>

<file path=ppt/tags/tag8.xml><?xml version="1.0" encoding="utf-8"?>
<p:tagLst xmlns:a="http://schemas.openxmlformats.org/drawingml/2006/main" xmlns:r="http://schemas.openxmlformats.org/officeDocument/2006/relationships" xmlns:p="http://schemas.openxmlformats.org/presentationml/2006/main">
  <p:tag name="TIMING" val="|1.1|4|2.4|1.4"/>
</p:tagLst>
</file>

<file path=ppt/tags/tag9.xml><?xml version="1.0" encoding="utf-8"?>
<p:tagLst xmlns:a="http://schemas.openxmlformats.org/drawingml/2006/main" xmlns:r="http://schemas.openxmlformats.org/officeDocument/2006/relationships" xmlns:p="http://schemas.openxmlformats.org/presentationml/2006/main">
  <p:tag name="TIMING" val="|1.1|4|2.4|1.4"/>
</p:tagLst>
</file>

<file path=ppt/tags/tag10.xml><?xml version="1.0" encoding="utf-8"?>
<p:tagLst xmlns:a="http://schemas.openxmlformats.org/drawingml/2006/main" xmlns:r="http://schemas.openxmlformats.org/officeDocument/2006/relationships" xmlns:p="http://schemas.openxmlformats.org/presentationml/2006/main">
  <p:tag name="TIMING" val="|1.1|4|2.4|1.4"/>
</p:tagLst>
</file>

<file path=ppt/tags/tag11.xml><?xml version="1.0" encoding="utf-8"?>
<p:tagLst xmlns:a="http://schemas.openxmlformats.org/drawingml/2006/main" xmlns:r="http://schemas.openxmlformats.org/officeDocument/2006/relationships" xmlns:p="http://schemas.openxmlformats.org/presentationml/2006/main">
  <p:tag name="TIMING" val="|1.1|4|2.4|1.4"/>
</p:tagLst>
</file>

<file path=ppt/tags/tag12.xml><?xml version="1.0" encoding="utf-8"?>
<p:tagLst xmlns:a="http://schemas.openxmlformats.org/drawingml/2006/main" xmlns:r="http://schemas.openxmlformats.org/officeDocument/2006/relationships" xmlns:p="http://schemas.openxmlformats.org/presentationml/2006/main">
  <p:tag name="TIMING" val="|1.1|4|2.4|1.4"/>
</p:tagLst>
</file>

<file path=ppt/tags/tag13.xml><?xml version="1.0" encoding="utf-8"?>
<p:tagLst xmlns:a="http://schemas.openxmlformats.org/drawingml/2006/main" xmlns:r="http://schemas.openxmlformats.org/officeDocument/2006/relationships" xmlns:p="http://schemas.openxmlformats.org/presentationml/2006/main">
  <p:tag name="TIMING" val="|1.1|4|2.4|1.4"/>
</p:tagLst>
</file>

<file path=ppt/tags/tag14.xml><?xml version="1.0" encoding="utf-8"?>
<p:tagLst xmlns:a="http://schemas.openxmlformats.org/drawingml/2006/main" xmlns:r="http://schemas.openxmlformats.org/officeDocument/2006/relationships" xmlns:p="http://schemas.openxmlformats.org/presentationml/2006/main">
  <p:tag name="TIMING" val="|1.1|4|2.4|1.4"/>
</p:tagLst>
</file>

<file path=ppt/tags/tag15.xml><?xml version="1.0" encoding="utf-8"?>
<p:tagLst xmlns:a="http://schemas.openxmlformats.org/drawingml/2006/main" xmlns:r="http://schemas.openxmlformats.org/officeDocument/2006/relationships" xmlns:p="http://schemas.openxmlformats.org/presentationml/2006/main">
  <p:tag name="TIMING" val="|1.1|4|2.4|1.4"/>
</p:tagLst>
</file>

<file path=ppt/tags/tag16.xml><?xml version="1.0" encoding="utf-8"?>
<p:tagLst xmlns:a="http://schemas.openxmlformats.org/drawingml/2006/main" xmlns:r="http://schemas.openxmlformats.org/officeDocument/2006/relationships" xmlns:p="http://schemas.openxmlformats.org/presentationml/2006/main">
  <p:tag name="TIMING" val="|1.1|4|2.4|1.4"/>
</p:tagLst>
</file>

<file path=ppt/tags/tag17.xml><?xml version="1.0" encoding="utf-8"?>
<p:tagLst xmlns:a="http://schemas.openxmlformats.org/drawingml/2006/main" xmlns:r="http://schemas.openxmlformats.org/officeDocument/2006/relationships" xmlns:p="http://schemas.openxmlformats.org/presentationml/2006/main">
  <p:tag name="TIMING" val="|1.1|4|2.4|1.4"/>
</p:tagLst>
</file>

<file path=ppt/tags/tag18.xml><?xml version="1.0" encoding="utf-8"?>
<p:tagLst xmlns:a="http://schemas.openxmlformats.org/drawingml/2006/main" xmlns:r="http://schemas.openxmlformats.org/officeDocument/2006/relationships" xmlns:p="http://schemas.openxmlformats.org/presentationml/2006/main">
  <p:tag name="TIMING" val="|1.1|4|2.4|1.4"/>
</p:tagLst>
</file>

<file path=ppt/tags/tag19.xml><?xml version="1.0" encoding="utf-8"?>
<p:tagLst xmlns:a="http://schemas.openxmlformats.org/drawingml/2006/main" xmlns:r="http://schemas.openxmlformats.org/officeDocument/2006/relationships" xmlns:p="http://schemas.openxmlformats.org/presentationml/2006/main">
  <p:tag name="TIMING" val="|1.1|4|2.4|1.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9311</TotalTime>
  <Words>1308</Words>
  <Application>Microsoft Office PowerPoint</Application>
  <PresentationFormat>On-screen Show (4:3)</PresentationFormat>
  <Paragraphs>132</Paragraphs>
  <Slides>21</Slides>
  <Notes>20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Calibri</vt:lpstr>
      <vt:lpstr>Open Sans Bold</vt:lpstr>
      <vt:lpstr>Open Sans Extrabold</vt:lpstr>
      <vt:lpstr>Open Sans Light</vt:lpstr>
      <vt:lpstr>Wingdings</vt:lpstr>
      <vt:lpstr>Office Theme</vt:lpstr>
      <vt:lpstr>PowerPoint Presentation</vt:lpstr>
      <vt:lpstr>Abstract</vt:lpstr>
      <vt:lpstr>Need for the Proposed System</vt:lpstr>
      <vt:lpstr>Advantages of the Proposed System</vt:lpstr>
      <vt:lpstr>Literature Survey</vt:lpstr>
      <vt:lpstr>Main Objective</vt:lpstr>
      <vt:lpstr>Architecture</vt:lpstr>
      <vt:lpstr>System Requirements</vt:lpstr>
      <vt:lpstr>Functional Description</vt:lpstr>
      <vt:lpstr>Functional Description</vt:lpstr>
      <vt:lpstr>Table Design</vt:lpstr>
      <vt:lpstr>Process Design</vt:lpstr>
      <vt:lpstr>Process Design</vt:lpstr>
      <vt:lpstr>Implementation</vt:lpstr>
      <vt:lpstr>Implementation</vt:lpstr>
      <vt:lpstr>Testing</vt:lpstr>
      <vt:lpstr>Conclusions</vt:lpstr>
      <vt:lpstr>Future Enhancement</vt:lpstr>
      <vt:lpstr>IEEE Paper</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Roshini VS</dc:creator>
  <cp:lastModifiedBy>VS !</cp:lastModifiedBy>
  <cp:revision>1747</cp:revision>
  <dcterms:created xsi:type="dcterms:W3CDTF">2013-05-17T03:00:03Z</dcterms:created>
  <dcterms:modified xsi:type="dcterms:W3CDTF">2025-05-11T17:48:47Z</dcterms:modified>
</cp:coreProperties>
</file>